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4" r:id="rId19"/>
    <p:sldId id="269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7856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D9C73-BA51-18CA-087B-B79F588F1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6E131E-F4B2-AE5E-449F-F1BABA4C5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46F085-C399-D81E-EFC9-EA53697F66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10561-DF9D-65B8-6681-DADB84FF7A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637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F8410F-CBB2-D82E-C57A-AB8A1FEFA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963BF2-1472-7E91-25AC-F98B0A566630}"/>
              </a:ext>
            </a:extLst>
          </p:cNvPr>
          <p:cNvSpPr/>
          <p:nvPr/>
        </p:nvSpPr>
        <p:spPr>
          <a:xfrm>
            <a:off x="0" y="-25996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AE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571C7E2-EE83-8E76-C4C3-A8AA584E528E}"/>
              </a:ext>
            </a:extLst>
          </p:cNvPr>
          <p:cNvSpPr/>
          <p:nvPr/>
        </p:nvSpPr>
        <p:spPr>
          <a:xfrm>
            <a:off x="366713" y="206053"/>
            <a:ext cx="8410575" cy="271463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C5A67DB-030F-121E-D8A6-E62F8DC9FCCC}"/>
              </a:ext>
            </a:extLst>
          </p:cNvPr>
          <p:cNvSpPr/>
          <p:nvPr/>
        </p:nvSpPr>
        <p:spPr>
          <a:xfrm>
            <a:off x="364666" y="204601"/>
            <a:ext cx="166688" cy="166688"/>
          </a:xfrm>
          <a:prstGeom prst="roundRect">
            <a:avLst>
              <a:gd name="adj" fmla="val 3009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76A3068-9CA4-AC89-8244-E7AA04A2E359}"/>
              </a:ext>
            </a:extLst>
          </p:cNvPr>
          <p:cNvSpPr/>
          <p:nvPr/>
        </p:nvSpPr>
        <p:spPr>
          <a:xfrm>
            <a:off x="603200" y="204639"/>
            <a:ext cx="75723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</a:t>
            </a:r>
            <a:endParaRPr lang="en-US" sz="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72838A1-63D0-EC97-3CD8-70ED98FAF7A8}"/>
              </a:ext>
            </a:extLst>
          </p:cNvPr>
          <p:cNvSpPr/>
          <p:nvPr/>
        </p:nvSpPr>
        <p:spPr>
          <a:xfrm>
            <a:off x="7502537" y="218889"/>
            <a:ext cx="8620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NOTES</a:t>
            </a:r>
            <a:endParaRPr lang="en-US" sz="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6B150D9-D95A-8D6A-1F88-87D3F1F13A4A}"/>
              </a:ext>
            </a:extLst>
          </p:cNvPr>
          <p:cNvSpPr/>
          <p:nvPr/>
        </p:nvSpPr>
        <p:spPr>
          <a:xfrm>
            <a:off x="8548874" y="218889"/>
            <a:ext cx="2286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endParaRPr lang="en-US" sz="7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906022C-28EC-E1EC-76A1-D4453F10FF24}"/>
              </a:ext>
            </a:extLst>
          </p:cNvPr>
          <p:cNvSpPr/>
          <p:nvPr/>
        </p:nvSpPr>
        <p:spPr>
          <a:xfrm>
            <a:off x="365187" y="1531888"/>
            <a:ext cx="4829175" cy="904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endParaRPr lang="en-US" sz="1600" b="1" dirty="0">
              <a:solidFill>
                <a:srgbClr val="0070C0"/>
              </a:solidFill>
            </a:endParaRPr>
          </a:p>
          <a:p>
            <a:endParaRPr lang="en-US" sz="1600" b="1" dirty="0">
              <a:solidFill>
                <a:srgbClr val="0070C0"/>
              </a:solidFill>
            </a:endParaRPr>
          </a:p>
          <a:p>
            <a:r>
              <a:rPr lang="en-US" sz="1600" b="1" dirty="0">
                <a:solidFill>
                  <a:srgbClr val="0070C0"/>
                </a:solidFill>
              </a:rPr>
              <a:t>Topics Covered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0850457-7227-4E8D-1929-C4875288A7A1}"/>
              </a:ext>
            </a:extLst>
          </p:cNvPr>
          <p:cNvSpPr/>
          <p:nvPr/>
        </p:nvSpPr>
        <p:spPr>
          <a:xfrm>
            <a:off x="366713" y="2502931"/>
            <a:ext cx="7135824" cy="243377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162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1C250B6-E781-B681-90D5-A39787F5998C}"/>
              </a:ext>
            </a:extLst>
          </p:cNvPr>
          <p:cNvSpPr/>
          <p:nvPr/>
        </p:nvSpPr>
        <p:spPr>
          <a:xfrm>
            <a:off x="5881204" y="2310110"/>
            <a:ext cx="4286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endParaRPr lang="en-US" sz="7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BD128E9-AAEC-980A-901D-8E5AC5BA374C}"/>
              </a:ext>
            </a:extLst>
          </p:cNvPr>
          <p:cNvSpPr/>
          <p:nvPr/>
        </p:nvSpPr>
        <p:spPr>
          <a:xfrm>
            <a:off x="5871679" y="2713062"/>
            <a:ext cx="6191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endParaRPr lang="en-US" sz="7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13B0ECC-FC1A-0079-D0B1-9EE088D7E93E}"/>
              </a:ext>
            </a:extLst>
          </p:cNvPr>
          <p:cNvSpPr/>
          <p:nvPr/>
        </p:nvSpPr>
        <p:spPr>
          <a:xfrm>
            <a:off x="5869298" y="3116014"/>
            <a:ext cx="666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endParaRPr lang="en-US" sz="7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AF8D5184-1D63-8295-0CA5-96DEE43464E2}"/>
              </a:ext>
            </a:extLst>
          </p:cNvPr>
          <p:cNvSpPr/>
          <p:nvPr/>
        </p:nvSpPr>
        <p:spPr>
          <a:xfrm>
            <a:off x="366713" y="4738613"/>
            <a:ext cx="8410575" cy="200025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30D56A8-BEC4-DCDE-1F91-90E99CE0465F}"/>
              </a:ext>
            </a:extLst>
          </p:cNvPr>
          <p:cNvSpPr/>
          <p:nvPr/>
        </p:nvSpPr>
        <p:spPr>
          <a:xfrm>
            <a:off x="366006" y="4822403"/>
            <a:ext cx="9096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 Reference</a:t>
            </a:r>
            <a:endParaRPr lang="en-US" sz="6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455D0B1-4666-BE08-460E-8C64D6304226}"/>
              </a:ext>
            </a:extLst>
          </p:cNvPr>
          <p:cNvSpPr/>
          <p:nvPr/>
        </p:nvSpPr>
        <p:spPr>
          <a:xfrm>
            <a:off x="6891821" y="4822403"/>
            <a:ext cx="188595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 · Ranking · Contribution•Slide 1 of 14</a:t>
            </a:r>
            <a:endParaRPr lang="en-US" sz="600" dirty="0"/>
          </a:p>
        </p:txBody>
      </p:sp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2B44F512-3146-28A3-DDC1-AB4415A3D6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053"/>
            <a:ext cx="8410575" cy="271463"/>
          </a:xfrm>
          <a:prstGeom prst="rect">
            <a:avLst/>
          </a:prstGeom>
        </p:spPr>
      </p:pic>
      <p:pic>
        <p:nvPicPr>
          <p:cNvPr id="39" name="Image 2" descr="preencoded.png">
            <a:extLst>
              <a:ext uri="{FF2B5EF4-FFF2-40B4-BE49-F238E27FC236}">
                <a16:creationId xmlns:a16="http://schemas.microsoft.com/office/drawing/2014/main" id="{CE775F41-60C4-9E4C-BBC2-B9E24CCADD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4738613"/>
            <a:ext cx="8410575" cy="20002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35666CAA-0CBD-8A3E-D0C9-F3438EA16A5F}"/>
              </a:ext>
            </a:extLst>
          </p:cNvPr>
          <p:cNvSpPr txBox="1"/>
          <p:nvPr/>
        </p:nvSpPr>
        <p:spPr>
          <a:xfrm>
            <a:off x="291755" y="2350667"/>
            <a:ext cx="54597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70C0"/>
                </a:solidFill>
              </a:rPr>
              <a:t>Advanced Measures, Visuals &amp; Reporting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70C0"/>
                </a:solidFill>
              </a:rPr>
              <a:t>Search Option &amp; Data Transformation using Power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70C0"/>
                </a:solidFill>
              </a:rPr>
              <a:t>Time-Series Analytics &amp; Forecasting (Sales/Revenue)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70C0"/>
                </a:solidFill>
              </a:rPr>
              <a:t>Automated Discount Calculation using Power Automate</a:t>
            </a:r>
            <a:endParaRPr lang="en-AE" sz="1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35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366713" y="206053"/>
            <a:ext cx="8410575" cy="271463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364666" y="204601"/>
            <a:ext cx="166688" cy="166688"/>
          </a:xfrm>
          <a:prstGeom prst="roundRect">
            <a:avLst>
              <a:gd name="adj" fmla="val 3009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603200" y="204639"/>
            <a:ext cx="75723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502537" y="218889"/>
            <a:ext cx="8620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NOTES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48874" y="218889"/>
            <a:ext cx="2286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187" y="1302916"/>
            <a:ext cx="48291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spcAft>
                <a:spcPts val="607"/>
              </a:spcAft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DAX FUNDAMENTALS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187" y="1531888"/>
            <a:ext cx="4829175" cy="904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64"/>
              </a:lnSpc>
              <a:spcAft>
                <a:spcPts val="810"/>
              </a:spcAft>
              <a:buNone/>
            </a:pPr>
            <a:r>
              <a:rPr lang="en-US" sz="24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 Table, Ranking ,</a:t>
            </a:r>
            <a:r>
              <a:rPr lang="en-US" sz="2400" b="1" dirty="0" err="1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Image_Url</a:t>
            </a:r>
            <a:r>
              <a:rPr lang="en-US" sz="24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&amp; Contribution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4778" y="2538785"/>
            <a:ext cx="3476625" cy="619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162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practical reference on building date tables, dynamic Top N ranking, and contribution percentage measures in Power BI.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075" y="3361841"/>
            <a:ext cx="1519238" cy="552450"/>
          </a:xfrm>
          <a:prstGeom prst="roundRect">
            <a:avLst>
              <a:gd name="adj" fmla="val 2191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534144" y="3471267"/>
            <a:ext cx="118110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324"/>
              </a:spcAft>
              <a:buNone/>
            </a:pPr>
            <a:r>
              <a:rPr lang="en-US" sz="6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TOPICS COVERED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34144" y="3628765"/>
            <a:ext cx="118110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Modules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20119" y="3361841"/>
            <a:ext cx="1519238" cy="552450"/>
          </a:xfrm>
          <a:prstGeom prst="roundRect">
            <a:avLst>
              <a:gd name="adj" fmla="val 2191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2189187" y="3471267"/>
            <a:ext cx="118110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324"/>
              </a:spcAft>
              <a:buNone/>
            </a:pPr>
            <a:r>
              <a:rPr lang="en-US" sz="6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DAX FORMULAS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189187" y="3628765"/>
            <a:ext cx="118110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8+ Measures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75162" y="3361841"/>
            <a:ext cx="1519238" cy="552450"/>
          </a:xfrm>
          <a:prstGeom prst="roundRect">
            <a:avLst>
              <a:gd name="adj" fmla="val 2191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3844230" y="3471267"/>
            <a:ext cx="118110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324"/>
              </a:spcAft>
              <a:buNone/>
            </a:pPr>
            <a:r>
              <a:rPr lang="en-US" sz="6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PRACTICES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844230" y="3628765"/>
            <a:ext cx="118110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59177" y="1729941"/>
            <a:ext cx="3219450" cy="1757363"/>
          </a:xfrm>
          <a:prstGeom prst="roundRect">
            <a:avLst>
              <a:gd name="adj" fmla="val 270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76200" dist="9525" dir="5400000" algn="bl" rotWithShape="0">
              <a:srgbClr val="1E3A5F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5792539" y="1887513"/>
            <a:ext cx="2752725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793098" y="2276810"/>
            <a:ext cx="219075" cy="219075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5881204" y="2310110"/>
            <a:ext cx="4286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122231" y="2248421"/>
            <a:ext cx="1443038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 Table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122231" y="2399891"/>
            <a:ext cx="1443038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tables, relationships, blank fixes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5793098" y="2679762"/>
            <a:ext cx="219075" cy="219075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5871679" y="2713062"/>
            <a:ext cx="6191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122157" y="2651373"/>
            <a:ext cx="15144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N Ranking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122157" y="2802843"/>
            <a:ext cx="15144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RANKX, ALLSELECTED, dynamic Top 5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5793098" y="3082714"/>
            <a:ext cx="219075" cy="219075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1" name="Text 29"/>
          <p:cNvSpPr/>
          <p:nvPr/>
        </p:nvSpPr>
        <p:spPr>
          <a:xfrm>
            <a:off x="5869298" y="3116014"/>
            <a:ext cx="666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123161" y="3054325"/>
            <a:ext cx="133826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 %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123161" y="3205795"/>
            <a:ext cx="1338262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Dept, Store Revenue, Store Margin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366713" y="4738613"/>
            <a:ext cx="8410575" cy="200025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35" name="Text 33"/>
          <p:cNvSpPr/>
          <p:nvPr/>
        </p:nvSpPr>
        <p:spPr>
          <a:xfrm>
            <a:off x="366006" y="4822403"/>
            <a:ext cx="9096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 Reference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891821" y="4822403"/>
            <a:ext cx="188595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 · Ranking · Contribution•Slide 1 of 14</a:t>
            </a:r>
            <a:endParaRPr lang="en-US" sz="600" dirty="0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053"/>
            <a:ext cx="8410575" cy="271463"/>
          </a:xfrm>
          <a:prstGeom prst="rect">
            <a:avLst/>
          </a:prstGeom>
        </p:spPr>
      </p:pic>
      <p:pic>
        <p:nvPicPr>
          <p:cNvPr id="3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2539" y="1887513"/>
            <a:ext cx="2752725" cy="233362"/>
          </a:xfrm>
          <a:prstGeom prst="rect">
            <a:avLst/>
          </a:prstGeom>
        </p:spPr>
      </p:pic>
      <p:pic>
        <p:nvPicPr>
          <p:cNvPr id="3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738613"/>
            <a:ext cx="841057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366713" y="206053"/>
            <a:ext cx="8410575" cy="271463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364666" y="204601"/>
            <a:ext cx="166688" cy="166688"/>
          </a:xfrm>
          <a:prstGeom prst="roundRect">
            <a:avLst>
              <a:gd name="adj" fmla="val 3009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603200" y="204639"/>
            <a:ext cx="75723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969472" y="218889"/>
            <a:ext cx="13954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 — CALENDAR TABLE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48874" y="218889"/>
            <a:ext cx="2286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261" y="816546"/>
            <a:ext cx="402431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spcAft>
                <a:spcPts val="486"/>
              </a:spcAft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FORMULA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261" y="1029035"/>
            <a:ext cx="4024312" cy="3381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spcAft>
                <a:spcPts val="810"/>
              </a:spcAft>
              <a:buNone/>
            </a:pPr>
            <a:r>
              <a:rPr lang="en-US" sz="23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 Table in DAX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365261" y="1468785"/>
            <a:ext cx="4024312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1013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proper calendar table uses your source data's actual min and max dates — creating a continuous, relationship-ready date range.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261" y="1953146"/>
            <a:ext cx="4024312" cy="2447925"/>
          </a:xfrm>
          <a:prstGeom prst="roundRect">
            <a:avLst>
              <a:gd name="adj" fmla="val 1116"/>
            </a:avLst>
          </a:prstGeom>
          <a:solidFill>
            <a:srgbClr val="0F29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567668" y="2083482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Calendar =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67668" y="2265871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ADDCOLUMNS(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67668" y="2448260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CALENDAR(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67668" y="2630649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MIN(PnL[Month]),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67668" y="2813038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MAX(PnL[Month])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67668" y="2995426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67668" y="3177815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"Year", </a:t>
            </a:r>
            <a:r>
              <a:rPr lang="en-US" sz="7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</a:t>
            </a: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([Date]),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7668" y="3360204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"MonthNo", </a:t>
            </a:r>
            <a:r>
              <a:rPr lang="en-US" sz="7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</a:t>
            </a: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([Date]),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67668" y="3542593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"MonthName", </a:t>
            </a:r>
            <a:r>
              <a:rPr lang="en-US" sz="7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</a:t>
            </a: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([Date], "MMM"),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67668" y="3724982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"YearMonth", </a:t>
            </a:r>
            <a:r>
              <a:rPr lang="en-US" sz="7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</a:t>
            </a: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([Date], "YYYY-MM"),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67668" y="3907371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"Quarter", "Q" &amp; </a:t>
            </a:r>
            <a:r>
              <a:rPr lang="en-US" sz="7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</a:t>
            </a: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([Date], "Q")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67668" y="4089760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754389" y="1467408"/>
            <a:ext cx="4024312" cy="1504950"/>
          </a:xfrm>
          <a:prstGeom prst="roundRect">
            <a:avLst>
              <a:gd name="adj" fmla="val 295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4942508" y="1602358"/>
            <a:ext cx="36480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405"/>
              </a:spcAft>
              <a:buNone/>
            </a:pPr>
            <a:r>
              <a:rPr lang="en-US" sz="6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COLUMNS GENERATED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942508" y="1769752"/>
            <a:ext cx="36480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column from CALENDAR()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942508" y="1954820"/>
            <a:ext cx="36480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</a:t>
            </a: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e.g. 2023, 2024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942508" y="2139888"/>
            <a:ext cx="36480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MonthNo</a:t>
            </a: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through 12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942508" y="2324956"/>
            <a:ext cx="36480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MonthName</a:t>
            </a: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Jan, Feb, Mar …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942508" y="2510024"/>
            <a:ext cx="36480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YearMonth</a:t>
            </a: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2024-01, 2024-02 …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942508" y="2695091"/>
            <a:ext cx="36480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</a:t>
            </a: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Q1, Q2, Q3, Q4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754389" y="3073896"/>
            <a:ext cx="4024312" cy="676275"/>
          </a:xfrm>
          <a:prstGeom prst="roundRect">
            <a:avLst>
              <a:gd name="adj" fmla="val 14626"/>
            </a:avLst>
          </a:prstGeom>
          <a:solidFill>
            <a:srgbClr val="0D9488">
              <a:alpha val="7000"/>
            </a:srgbClr>
          </a:solidFill>
          <a:ln w="4763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Text 31"/>
          <p:cNvSpPr/>
          <p:nvPr/>
        </p:nvSpPr>
        <p:spPr>
          <a:xfrm>
            <a:off x="4942508" y="3183434"/>
            <a:ext cx="36480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324"/>
              </a:spcAft>
              <a:buNone/>
            </a:pPr>
            <a:r>
              <a:rPr lang="en-US" sz="6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ADVANTAGE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942508" y="3340819"/>
            <a:ext cx="3648075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MIN/MAX from source data means no hardcoded dates — the table automatically adjusts as new data arrives.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66713" y="4738613"/>
            <a:ext cx="8410575" cy="200025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36" name="Text 34"/>
          <p:cNvSpPr/>
          <p:nvPr/>
        </p:nvSpPr>
        <p:spPr>
          <a:xfrm>
            <a:off x="366006" y="4822403"/>
            <a:ext cx="9096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 Reference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7148401" y="4822403"/>
            <a:ext cx="16287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 · Calendar Table•Slide 2 of 14</a:t>
            </a:r>
            <a:endParaRPr lang="en-US" sz="60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053"/>
            <a:ext cx="8410575" cy="271463"/>
          </a:xfrm>
          <a:prstGeom prst="rect">
            <a:avLst/>
          </a:prstGeom>
        </p:spPr>
      </p:pic>
      <p:pic>
        <p:nvPicPr>
          <p:cNvPr id="3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4738613"/>
            <a:ext cx="841057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366713" y="206053"/>
            <a:ext cx="8410575" cy="271463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364666" y="204601"/>
            <a:ext cx="166688" cy="166688"/>
          </a:xfrm>
          <a:prstGeom prst="roundRect">
            <a:avLst>
              <a:gd name="adj" fmla="val 3009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604354" y="204639"/>
            <a:ext cx="72866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969472" y="218889"/>
            <a:ext cx="13954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 — CALENDAR TABLE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48874" y="218889"/>
            <a:ext cx="2286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6713" y="631403"/>
            <a:ext cx="84105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88"/>
              </a:lnSpc>
              <a:spcAft>
                <a:spcPts val="405"/>
              </a:spcAft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APPROACH WORKS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6713" y="835000"/>
            <a:ext cx="8410575" cy="314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84"/>
              </a:lnSpc>
              <a:buNone/>
            </a:pPr>
            <a:r>
              <a:rPr lang="en-US" sz="21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Advantages of This Calendar Design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66229" y="1304739"/>
            <a:ext cx="2681288" cy="1547813"/>
          </a:xfrm>
          <a:prstGeom prst="roundRect">
            <a:avLst>
              <a:gd name="adj" fmla="val 279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553789" y="1463576"/>
            <a:ext cx="319088" cy="319088"/>
          </a:xfrm>
          <a:prstGeom prst="roundRect">
            <a:avLst>
              <a:gd name="adj" fmla="val 12318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677614" y="1499295"/>
            <a:ext cx="71438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4348" y="1861207"/>
            <a:ext cx="23050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Range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4348" y="2116001"/>
            <a:ext cx="2305050" cy="466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8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actual MIN and MAX dates from your source — no hardcoded year ranges that go stale.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31319" y="1304739"/>
            <a:ext cx="2681288" cy="1547813"/>
          </a:xfrm>
          <a:prstGeom prst="roundRect">
            <a:avLst>
              <a:gd name="adj" fmla="val 279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3418880" y="1463576"/>
            <a:ext cx="319088" cy="319088"/>
          </a:xfrm>
          <a:prstGeom prst="roundRect">
            <a:avLst>
              <a:gd name="adj" fmla="val 12318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3526036" y="1499295"/>
            <a:ext cx="104775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19438" y="1861207"/>
            <a:ext cx="23050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Date Range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19438" y="2116001"/>
            <a:ext cx="2305050" cy="466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8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single day is present — no gaps — which is required for Time Intelligence functions to work correctly.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096409" y="1304739"/>
            <a:ext cx="2681288" cy="1547813"/>
          </a:xfrm>
          <a:prstGeom prst="roundRect">
            <a:avLst>
              <a:gd name="adj" fmla="val 279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6283970" y="1463576"/>
            <a:ext cx="319088" cy="319088"/>
          </a:xfrm>
          <a:prstGeom prst="roundRect">
            <a:avLst>
              <a:gd name="adj" fmla="val 12318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6388708" y="1499295"/>
            <a:ext cx="109537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84528" y="1861207"/>
            <a:ext cx="23050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Intelligence Ready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84528" y="2116001"/>
            <a:ext cx="2305050" cy="466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8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TOTALYTD, SAMEPERIODLASTYEAR, DATEADD all depend on a well-formed calendar table marked as a date table.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66229" y="3036689"/>
            <a:ext cx="2681288" cy="1547813"/>
          </a:xfrm>
          <a:prstGeom prst="roundRect">
            <a:avLst>
              <a:gd name="adj" fmla="val 279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6" name="Shape 24"/>
          <p:cNvSpPr/>
          <p:nvPr/>
        </p:nvSpPr>
        <p:spPr>
          <a:xfrm>
            <a:off x="553789" y="3195489"/>
            <a:ext cx="319088" cy="319088"/>
          </a:xfrm>
          <a:prstGeom prst="roundRect">
            <a:avLst>
              <a:gd name="adj" fmla="val 12318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656146" y="3231207"/>
            <a:ext cx="114300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4348" y="3593120"/>
            <a:ext cx="23050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Avoids Blank Values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4348" y="3847914"/>
            <a:ext cx="2305050" cy="466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8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proper calendar eliminates the "(Blank)" category that appears in visuals when date relationships are broken.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31319" y="3036689"/>
            <a:ext cx="2681288" cy="1547813"/>
          </a:xfrm>
          <a:prstGeom prst="roundRect">
            <a:avLst>
              <a:gd name="adj" fmla="val 279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1" name="Shape 29"/>
          <p:cNvSpPr/>
          <p:nvPr/>
        </p:nvSpPr>
        <p:spPr>
          <a:xfrm>
            <a:off x="3418880" y="3195489"/>
            <a:ext cx="319088" cy="319088"/>
          </a:xfrm>
          <a:prstGeom prst="roundRect">
            <a:avLst>
              <a:gd name="adj" fmla="val 12318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2" name="Text 30"/>
          <p:cNvSpPr/>
          <p:nvPr/>
        </p:nvSpPr>
        <p:spPr>
          <a:xfrm>
            <a:off x="3526036" y="3231207"/>
            <a:ext cx="104775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19438" y="3593120"/>
            <a:ext cx="23050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to Maintain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19438" y="3847914"/>
            <a:ext cx="2305050" cy="466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8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ADDCOLUMNS with FORMAT is clean, readable DAX — easy to extend with fiscal year, week number, or holidays.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096409" y="3036689"/>
            <a:ext cx="2681288" cy="1547813"/>
          </a:xfrm>
          <a:prstGeom prst="roundRect">
            <a:avLst>
              <a:gd name="adj" fmla="val 2792"/>
            </a:avLst>
          </a:prstGeom>
          <a:solidFill>
            <a:srgbClr val="0D9488">
              <a:alpha val="7000"/>
            </a:srgbClr>
          </a:solidFill>
          <a:ln w="4763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Text 34"/>
          <p:cNvSpPr/>
          <p:nvPr/>
        </p:nvSpPr>
        <p:spPr>
          <a:xfrm>
            <a:off x="6284528" y="3194298"/>
            <a:ext cx="230505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CREATING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284528" y="3422452"/>
            <a:ext cx="2305050" cy="4619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 the table as a Date Table in Power BI Model View so Time Intelligence functions are fully enabled.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284528" y="4302509"/>
            <a:ext cx="230505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Bef>
                <a:spcPts val="2691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 Tools → Mark as Date Table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366713" y="4738613"/>
            <a:ext cx="8410575" cy="200025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40" name="Text 38"/>
          <p:cNvSpPr/>
          <p:nvPr/>
        </p:nvSpPr>
        <p:spPr>
          <a:xfrm>
            <a:off x="366006" y="4822403"/>
            <a:ext cx="9096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 Reference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7145610" y="4822403"/>
            <a:ext cx="16335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 · Calendar Table•Slide 3 of 14</a:t>
            </a:r>
            <a:endParaRPr lang="en-US" sz="600" dirty="0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053"/>
            <a:ext cx="8410575" cy="271463"/>
          </a:xfrm>
          <a:prstGeom prst="rect">
            <a:avLst/>
          </a:prstGeom>
        </p:spPr>
      </p:pic>
      <p:pic>
        <p:nvPicPr>
          <p:cNvPr id="4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4738613"/>
            <a:ext cx="841057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366713" y="206053"/>
            <a:ext cx="8410575" cy="271463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364666" y="204601"/>
            <a:ext cx="166688" cy="166688"/>
          </a:xfrm>
          <a:prstGeom prst="roundRect">
            <a:avLst>
              <a:gd name="adj" fmla="val 3009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604354" y="204639"/>
            <a:ext cx="72866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969472" y="218889"/>
            <a:ext cx="13954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 — CALENDAR TABLE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48874" y="218889"/>
            <a:ext cx="2286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261" y="1229246"/>
            <a:ext cx="402431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spcAft>
                <a:spcPts val="486"/>
              </a:spcAft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QUESTION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261" y="1443261"/>
            <a:ext cx="4024312" cy="6715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spcAft>
                <a:spcPts val="810"/>
              </a:spcAft>
              <a:buNone/>
            </a:pPr>
            <a:r>
              <a:rPr lang="en-US" sz="23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if Someone Doesn't Have a Date Table?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365261" y="2217762"/>
            <a:ext cx="4024312" cy="3667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1215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a dedicated calendar table, Power BI creates an auto-date table internally — but this causes well-known problems.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261" y="2738847"/>
            <a:ext cx="4024312" cy="1247775"/>
          </a:xfrm>
          <a:prstGeom prst="roundRect">
            <a:avLst>
              <a:gd name="adj" fmla="val 429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553380" y="2872680"/>
            <a:ext cx="36480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607"/>
              </a:spcAft>
              <a:buNone/>
            </a:pPr>
            <a:r>
              <a:rPr lang="en-US" sz="6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PROBLEMS WITHOUT A DATE TABLE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552376" y="3095030"/>
            <a:ext cx="47625" cy="47625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690525" y="3064446"/>
            <a:ext cx="309086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Auto-date tables are hidden and cannot be marked as Date Table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52376" y="3307631"/>
            <a:ext cx="47625" cy="47625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691344" y="3277046"/>
            <a:ext cx="21336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Intelligence may produce wrong results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52376" y="3520232"/>
            <a:ext cx="47625" cy="47625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690265" y="3489647"/>
            <a:ext cx="2852738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custom columns like MonthName, Quarter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52376" y="3732833"/>
            <a:ext cx="47625" cy="47625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691121" y="3702248"/>
            <a:ext cx="196691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Cannot control sort order for MonthName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754388" y="1229246"/>
            <a:ext cx="4099325" cy="1745307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4942508" y="1613222"/>
            <a:ext cx="36480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607"/>
              </a:spcAft>
              <a:buNone/>
            </a:pPr>
            <a:r>
              <a:rPr lang="en-US" sz="6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 — CREATE YOUR OWN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4942991" y="1806290"/>
            <a:ext cx="200025" cy="200025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5023917" y="1837246"/>
            <a:ext cx="381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254377" y="1834828"/>
            <a:ext cx="138588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9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to </a:t>
            </a: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Modeling → New Table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942991" y="2084524"/>
            <a:ext cx="200025" cy="200025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5014392" y="2115480"/>
            <a:ext cx="571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253410" y="2113062"/>
            <a:ext cx="221932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9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 the ADDCOLUMNS / CALENDAR formula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942991" y="2362758"/>
            <a:ext cx="200025" cy="200025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0" name="Text 28"/>
          <p:cNvSpPr/>
          <p:nvPr/>
        </p:nvSpPr>
        <p:spPr>
          <a:xfrm>
            <a:off x="5014429" y="2393714"/>
            <a:ext cx="571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253186" y="2391296"/>
            <a:ext cx="24955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9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relationship: </a:t>
            </a: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Calendar[Date] → PnL[Month]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942991" y="2640992"/>
            <a:ext cx="200025" cy="200025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3" name="Text 31"/>
          <p:cNvSpPr/>
          <p:nvPr/>
        </p:nvSpPr>
        <p:spPr>
          <a:xfrm>
            <a:off x="5012048" y="2671949"/>
            <a:ext cx="619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252554" y="2669530"/>
            <a:ext cx="161448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9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 as Date Table in </a:t>
            </a: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 Tools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754389" y="3077170"/>
            <a:ext cx="4024312" cy="661987"/>
          </a:xfrm>
          <a:prstGeom prst="roundRect">
            <a:avLst>
              <a:gd name="adj" fmla="val 15264"/>
            </a:avLst>
          </a:prstGeom>
          <a:solidFill>
            <a:srgbClr val="0D9488">
              <a:alpha val="7000"/>
            </a:srgbClr>
          </a:solidFill>
          <a:ln w="4763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Text 34"/>
          <p:cNvSpPr/>
          <p:nvPr/>
        </p:nvSpPr>
        <p:spPr>
          <a:xfrm>
            <a:off x="4942508" y="3186485"/>
            <a:ext cx="36480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324"/>
              </a:spcAft>
              <a:buNone/>
            </a:pPr>
            <a:r>
              <a:rPr lang="en-US" sz="6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OFF AUTO DATE/TIME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942508" y="3344094"/>
            <a:ext cx="3648075" cy="285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→ Options → Data Load → uncheck "Auto date/time" to prevent conflicts with your custom table.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66713" y="4738613"/>
            <a:ext cx="8410575" cy="200025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39" name="Text 37"/>
          <p:cNvSpPr/>
          <p:nvPr/>
        </p:nvSpPr>
        <p:spPr>
          <a:xfrm>
            <a:off x="366006" y="4822403"/>
            <a:ext cx="9096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 Reference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7144457" y="4822403"/>
            <a:ext cx="16335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 · Calendar Table•Slide 4 of 14</a:t>
            </a:r>
            <a:endParaRPr lang="en-US" sz="600" dirty="0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053"/>
            <a:ext cx="8410575" cy="271463"/>
          </a:xfrm>
          <a:prstGeom prst="rect">
            <a:avLst/>
          </a:prstGeom>
        </p:spPr>
      </p:pic>
      <p:pic>
        <p:nvPicPr>
          <p:cNvPr id="4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4738613"/>
            <a:ext cx="841057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366713" y="206053"/>
            <a:ext cx="8410575" cy="271463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364666" y="204601"/>
            <a:ext cx="166688" cy="166688"/>
          </a:xfrm>
          <a:prstGeom prst="roundRect">
            <a:avLst>
              <a:gd name="adj" fmla="val 3009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604354" y="204639"/>
            <a:ext cx="72866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969472" y="218889"/>
            <a:ext cx="13954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 — CALENDAR TABLE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48874" y="218889"/>
            <a:ext cx="2286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261" y="1367358"/>
            <a:ext cx="402431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spcAft>
                <a:spcPts val="486"/>
              </a:spcAft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 MONTH FORMAT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261" y="1581745"/>
            <a:ext cx="4024312" cy="628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84"/>
              </a:lnSpc>
              <a:spcAft>
                <a:spcPts val="810"/>
              </a:spcAft>
              <a:buNone/>
            </a:pPr>
            <a:r>
              <a:rPr lang="en-US" sz="21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if the Month Format is Incorrect?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65261" y="2313384"/>
            <a:ext cx="4024312" cy="5286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2"/>
              </a:lnSpc>
              <a:spcAft>
                <a:spcPts val="1013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most common issue: MonthName sorts alphabetically instead of chronologically. Power BI doesn't know "Jan" comes before "Feb" without guidance.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261" y="2968898"/>
            <a:ext cx="4024312" cy="881063"/>
          </a:xfrm>
          <a:prstGeom prst="roundRect">
            <a:avLst>
              <a:gd name="adj" fmla="val 861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553380" y="3104183"/>
            <a:ext cx="36480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607"/>
              </a:spcAft>
              <a:buNone/>
            </a:pPr>
            <a:r>
              <a:rPr lang="en-US" sz="6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RESULT (ALPHABETICAL)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54050" y="3297808"/>
            <a:ext cx="366712" cy="209550"/>
          </a:xfrm>
          <a:prstGeom prst="roundRect">
            <a:avLst>
              <a:gd name="adj" fmla="val 19041"/>
            </a:avLst>
          </a:prstGeom>
          <a:solidFill>
            <a:srgbClr val="FEF2F2"/>
          </a:solidFill>
          <a:ln w="4763">
            <a:solidFill>
              <a:srgbClr val="FECAC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94321" y="3297808"/>
            <a:ext cx="390525" cy="209550"/>
          </a:xfrm>
          <a:prstGeom prst="roundRect">
            <a:avLst>
              <a:gd name="adj" fmla="val 19041"/>
            </a:avLst>
          </a:prstGeom>
          <a:solidFill>
            <a:srgbClr val="FEF2F2"/>
          </a:solidFill>
          <a:ln w="4763">
            <a:solidFill>
              <a:srgbClr val="FECAC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458664" y="3297808"/>
            <a:ext cx="381000" cy="209550"/>
          </a:xfrm>
          <a:prstGeom prst="roundRect">
            <a:avLst>
              <a:gd name="adj" fmla="val 19041"/>
            </a:avLst>
          </a:prstGeom>
          <a:solidFill>
            <a:srgbClr val="FEF2F2"/>
          </a:solidFill>
          <a:ln w="4763">
            <a:solidFill>
              <a:srgbClr val="FECAC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913223" y="3297808"/>
            <a:ext cx="371475" cy="209550"/>
          </a:xfrm>
          <a:prstGeom prst="roundRect">
            <a:avLst>
              <a:gd name="adj" fmla="val 19041"/>
            </a:avLst>
          </a:prstGeom>
          <a:solidFill>
            <a:srgbClr val="FEF2F2"/>
          </a:solidFill>
          <a:ln w="4763">
            <a:solidFill>
              <a:srgbClr val="FECAC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Feb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356470" y="3297808"/>
            <a:ext cx="371475" cy="209550"/>
          </a:xfrm>
          <a:prstGeom prst="roundRect">
            <a:avLst>
              <a:gd name="adj" fmla="val 19041"/>
            </a:avLst>
          </a:prstGeom>
          <a:solidFill>
            <a:srgbClr val="FEF2F2"/>
          </a:solidFill>
          <a:ln w="4763">
            <a:solidFill>
              <a:srgbClr val="FECAC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800424" y="3297808"/>
            <a:ext cx="338137" cy="209550"/>
          </a:xfrm>
          <a:prstGeom prst="roundRect">
            <a:avLst>
              <a:gd name="adj" fmla="val 19041"/>
            </a:avLst>
          </a:prstGeom>
          <a:solidFill>
            <a:srgbClr val="FEF2F2"/>
          </a:solidFill>
          <a:ln w="4763">
            <a:solidFill>
              <a:srgbClr val="FECAC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212939" y="3297808"/>
            <a:ext cx="371475" cy="209550"/>
          </a:xfrm>
          <a:prstGeom prst="roundRect">
            <a:avLst>
              <a:gd name="adj" fmla="val 19041"/>
            </a:avLst>
          </a:prstGeom>
          <a:solidFill>
            <a:srgbClr val="FEF2F2"/>
          </a:solidFill>
          <a:ln w="4763">
            <a:solidFill>
              <a:srgbClr val="FECAC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659498" y="3297808"/>
            <a:ext cx="381000" cy="209550"/>
          </a:xfrm>
          <a:prstGeom prst="roundRect">
            <a:avLst>
              <a:gd name="adj" fmla="val 19041"/>
            </a:avLst>
          </a:prstGeom>
          <a:solidFill>
            <a:srgbClr val="FEF2F2"/>
          </a:solidFill>
          <a:ln w="4763">
            <a:solidFill>
              <a:srgbClr val="FECAC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53380" y="3586386"/>
            <a:ext cx="364807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spcBef>
                <a:spcPts val="607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Charts look wrong — April before January, Dec before Feb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4754389" y="1368958"/>
            <a:ext cx="4024312" cy="1185863"/>
          </a:xfrm>
          <a:prstGeom prst="roundRect">
            <a:avLst>
              <a:gd name="adj" fmla="val 475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4942508" y="1502792"/>
            <a:ext cx="36480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607"/>
              </a:spcAft>
              <a:buNone/>
            </a:pPr>
            <a:r>
              <a:rPr lang="en-US" sz="6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FIX — SORT BY COLUMN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4942991" y="1695859"/>
            <a:ext cx="200025" cy="200025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5023917" y="1726816"/>
            <a:ext cx="381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252963" y="1719635"/>
            <a:ext cx="255746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the </a:t>
            </a: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MonthName</a:t>
            </a: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column in your Calendar table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942991" y="1958690"/>
            <a:ext cx="200025" cy="200025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8" name="Text 26"/>
          <p:cNvSpPr/>
          <p:nvPr/>
        </p:nvSpPr>
        <p:spPr>
          <a:xfrm>
            <a:off x="5014392" y="1989646"/>
            <a:ext cx="571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252554" y="1982465"/>
            <a:ext cx="158115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to </a:t>
            </a: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 Tools</a:t>
            </a: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the ribbon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942991" y="2221520"/>
            <a:ext cx="200025" cy="200025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1" name="Text 29"/>
          <p:cNvSpPr/>
          <p:nvPr/>
        </p:nvSpPr>
        <p:spPr>
          <a:xfrm>
            <a:off x="5014429" y="2252476"/>
            <a:ext cx="571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252628" y="2245296"/>
            <a:ext cx="1995487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</a:t>
            </a: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 by Column</a:t>
            </a: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choose </a:t>
            </a: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MonthNo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754389" y="2658480"/>
            <a:ext cx="4024312" cy="604837"/>
          </a:xfrm>
          <a:prstGeom prst="roundRect">
            <a:avLst>
              <a:gd name="adj" fmla="val 1828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4" name="Text 32"/>
          <p:cNvSpPr/>
          <p:nvPr/>
        </p:nvSpPr>
        <p:spPr>
          <a:xfrm>
            <a:off x="4942508" y="2767013"/>
            <a:ext cx="36480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486"/>
              </a:spcAft>
              <a:buNone/>
            </a:pPr>
            <a:r>
              <a:rPr lang="en-US" sz="6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RESULT (CHRONOLOGICAL)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4941615" y="2945234"/>
            <a:ext cx="371475" cy="209550"/>
          </a:xfrm>
          <a:prstGeom prst="roundRect">
            <a:avLst>
              <a:gd name="adj" fmla="val 19041"/>
            </a:avLst>
          </a:prstGeom>
          <a:solidFill>
            <a:srgbClr val="0D9488">
              <a:alpha val="8000"/>
            </a:srgbClr>
          </a:solidFill>
          <a:ln w="4763">
            <a:solidFill>
              <a:srgbClr val="0D9488">
                <a:alpha val="25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384862" y="2945234"/>
            <a:ext cx="371475" cy="209550"/>
          </a:xfrm>
          <a:prstGeom prst="roundRect">
            <a:avLst>
              <a:gd name="adj" fmla="val 19041"/>
            </a:avLst>
          </a:prstGeom>
          <a:solidFill>
            <a:srgbClr val="0D9488">
              <a:alpha val="8000"/>
            </a:srgbClr>
          </a:solidFill>
          <a:ln w="4763">
            <a:solidFill>
              <a:srgbClr val="0D9488">
                <a:alpha val="25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Feb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829784" y="2945234"/>
            <a:ext cx="381000" cy="209550"/>
          </a:xfrm>
          <a:prstGeom prst="roundRect">
            <a:avLst>
              <a:gd name="adj" fmla="val 19041"/>
            </a:avLst>
          </a:prstGeom>
          <a:solidFill>
            <a:srgbClr val="0D9488">
              <a:alpha val="8000"/>
            </a:srgbClr>
          </a:solidFill>
          <a:ln w="4763">
            <a:solidFill>
              <a:srgbClr val="0D9488">
                <a:alpha val="25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285495" y="2945234"/>
            <a:ext cx="366712" cy="209550"/>
          </a:xfrm>
          <a:prstGeom prst="roundRect">
            <a:avLst>
              <a:gd name="adj" fmla="val 19041"/>
            </a:avLst>
          </a:prstGeom>
          <a:solidFill>
            <a:srgbClr val="0D9488">
              <a:alpha val="8000"/>
            </a:srgbClr>
          </a:solidFill>
          <a:ln w="4763">
            <a:solidFill>
              <a:srgbClr val="0D9488">
                <a:alpha val="25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726175" y="2945234"/>
            <a:ext cx="400050" cy="209550"/>
          </a:xfrm>
          <a:prstGeom prst="roundRect">
            <a:avLst>
              <a:gd name="adj" fmla="val 19041"/>
            </a:avLst>
          </a:prstGeom>
          <a:solidFill>
            <a:srgbClr val="0D9488">
              <a:alpha val="8000"/>
            </a:srgbClr>
          </a:solidFill>
          <a:ln w="4763">
            <a:solidFill>
              <a:srgbClr val="0D9488">
                <a:alpha val="25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200565" y="2945234"/>
            <a:ext cx="371475" cy="209550"/>
          </a:xfrm>
          <a:prstGeom prst="roundRect">
            <a:avLst>
              <a:gd name="adj" fmla="val 19041"/>
            </a:avLst>
          </a:prstGeom>
          <a:solidFill>
            <a:srgbClr val="0D9488">
              <a:alpha val="8000"/>
            </a:srgbClr>
          </a:solidFill>
          <a:ln w="4763">
            <a:solidFill>
              <a:srgbClr val="0D9488">
                <a:alpha val="25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646417" y="2945234"/>
            <a:ext cx="338137" cy="209550"/>
          </a:xfrm>
          <a:prstGeom prst="roundRect">
            <a:avLst>
              <a:gd name="adj" fmla="val 19041"/>
            </a:avLst>
          </a:prstGeom>
          <a:solidFill>
            <a:srgbClr val="0D9488">
              <a:alpha val="8000"/>
            </a:srgbClr>
          </a:solidFill>
          <a:ln w="4763">
            <a:solidFill>
              <a:srgbClr val="0D9488">
                <a:alpha val="25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057555" y="2945234"/>
            <a:ext cx="390525" cy="209550"/>
          </a:xfrm>
          <a:prstGeom prst="roundRect">
            <a:avLst>
              <a:gd name="adj" fmla="val 19041"/>
            </a:avLst>
          </a:prstGeom>
          <a:solidFill>
            <a:srgbClr val="0D9488">
              <a:alpha val="8000"/>
            </a:srgbClr>
          </a:solidFill>
          <a:ln w="4763">
            <a:solidFill>
              <a:srgbClr val="0D9488">
                <a:alpha val="25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754389" y="3367162"/>
            <a:ext cx="4024312" cy="481012"/>
          </a:xfrm>
          <a:prstGeom prst="roundRect">
            <a:avLst>
              <a:gd name="adj" fmla="val 28910"/>
            </a:avLst>
          </a:prstGeom>
          <a:solidFill>
            <a:srgbClr val="0D9488">
              <a:alpha val="7000"/>
            </a:srgbClr>
          </a:solidFill>
          <a:ln w="4763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4" name="Text 42"/>
          <p:cNvSpPr/>
          <p:nvPr/>
        </p:nvSpPr>
        <p:spPr>
          <a:xfrm>
            <a:off x="4942508" y="3464793"/>
            <a:ext cx="3648075" cy="285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check: both Calendar[Date] and PnL[Month] should be </a:t>
            </a: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type — not </a:t>
            </a: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Date/Time</a:t>
            </a: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 mismatch causes relationship failures and blanks.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66713" y="4738613"/>
            <a:ext cx="8410575" cy="200025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46" name="Text 44"/>
          <p:cNvSpPr/>
          <p:nvPr/>
        </p:nvSpPr>
        <p:spPr>
          <a:xfrm>
            <a:off x="366006" y="4822403"/>
            <a:ext cx="9096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 Reference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7148922" y="4822403"/>
            <a:ext cx="16287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 · Calendar Table•Slide 5 of 14</a:t>
            </a:r>
            <a:endParaRPr lang="en-US" sz="600" dirty="0"/>
          </a:p>
        </p:txBody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053"/>
            <a:ext cx="8410575" cy="271463"/>
          </a:xfrm>
          <a:prstGeom prst="rect">
            <a:avLst/>
          </a:prstGeom>
        </p:spPr>
      </p:pic>
      <p:pic>
        <p:nvPicPr>
          <p:cNvPr id="4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4738613"/>
            <a:ext cx="841057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366713" y="206053"/>
            <a:ext cx="8410575" cy="271463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364666" y="204601"/>
            <a:ext cx="166688" cy="166688"/>
          </a:xfrm>
          <a:prstGeom prst="roundRect">
            <a:avLst>
              <a:gd name="adj" fmla="val 3009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604354" y="204639"/>
            <a:ext cx="72866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969472" y="218889"/>
            <a:ext cx="13954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 — CALENDAR TABLE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48874" y="218889"/>
            <a:ext cx="2286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6713" y="631403"/>
            <a:ext cx="84105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88"/>
              </a:lnSpc>
              <a:spcAft>
                <a:spcPts val="405"/>
              </a:spcAft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VIEW SETUP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6713" y="835000"/>
            <a:ext cx="8410575" cy="314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84"/>
              </a:lnSpc>
              <a:buNone/>
            </a:pPr>
            <a:r>
              <a:rPr lang="en-US" sz="21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 Setup &amp; Blank Value Fixes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66229" y="1303325"/>
            <a:ext cx="4090987" cy="1862137"/>
          </a:xfrm>
          <a:prstGeom prst="roundRect">
            <a:avLst>
              <a:gd name="adj" fmla="val 1929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554348" y="1438573"/>
            <a:ext cx="371475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607"/>
              </a:spcAft>
              <a:buNone/>
            </a:pPr>
            <a:r>
              <a:rPr lang="en-US" sz="6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RELATIONSHIP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989670" y="1734108"/>
            <a:ext cx="1266825" cy="628650"/>
          </a:xfrm>
          <a:prstGeom prst="roundRect">
            <a:avLst>
              <a:gd name="adj" fmla="val 12694"/>
            </a:avLst>
          </a:prstGeom>
          <a:solidFill>
            <a:srgbClr val="0D9488">
              <a:alpha val="8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1180170" y="1821656"/>
            <a:ext cx="88582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8"/>
              </a:lnSpc>
              <a:spcAft>
                <a:spcPts val="203"/>
              </a:spcAft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 Table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1180170" y="1963750"/>
            <a:ext cx="8858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Calendar[Date]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80170" y="2166714"/>
            <a:ext cx="885825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64"/>
              </a:lnSpc>
              <a:spcBef>
                <a:spcPts val="203"/>
              </a:spcBef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side (1)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2440893" y="1910321"/>
            <a:ext cx="152400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77096" y="1738871"/>
            <a:ext cx="1057275" cy="619125"/>
          </a:xfrm>
          <a:prstGeom prst="roundRect">
            <a:avLst>
              <a:gd name="adj" fmla="val 1308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2965214" y="1821656"/>
            <a:ext cx="6810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8"/>
              </a:lnSpc>
              <a:spcAft>
                <a:spcPts val="203"/>
              </a:spcAft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 Table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2965214" y="1963750"/>
            <a:ext cx="681038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PnL[Month]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65214" y="2166714"/>
            <a:ext cx="681038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64"/>
              </a:lnSpc>
              <a:spcBef>
                <a:spcPts val="203"/>
              </a:spcBef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side (*)</a:t>
            </a:r>
            <a:endParaRPr lang="en-US" sz="500" dirty="0"/>
          </a:p>
        </p:txBody>
      </p:sp>
      <p:sp>
        <p:nvSpPr>
          <p:cNvPr id="21" name="Text 19"/>
          <p:cNvSpPr/>
          <p:nvPr/>
        </p:nvSpPr>
        <p:spPr>
          <a:xfrm>
            <a:off x="554348" y="2517763"/>
            <a:ext cx="37147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Cardinality</a:t>
            </a: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One-to-Many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54348" y="2702830"/>
            <a:ext cx="37147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Direction</a:t>
            </a: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(Calendar → PnL)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54348" y="2887898"/>
            <a:ext cx="37147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Type</a:t>
            </a: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(not Date/Time)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686784" y="1305185"/>
            <a:ext cx="4090987" cy="1219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4874902" y="1438573"/>
            <a:ext cx="371475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607"/>
              </a:spcAft>
              <a:buNone/>
            </a:pPr>
            <a:r>
              <a:rPr lang="en-US" sz="6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(BLANK) APPEARS IN CHARTS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4872930" y="1660922"/>
            <a:ext cx="47625" cy="47625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5009890" y="1631640"/>
            <a:ext cx="25336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 is missing between Calendar and fact table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872930" y="1866602"/>
            <a:ext cx="47625" cy="47625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9" name="Text 27"/>
          <p:cNvSpPr/>
          <p:nvPr/>
        </p:nvSpPr>
        <p:spPr>
          <a:xfrm>
            <a:off x="5009815" y="1837320"/>
            <a:ext cx="237172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values in fact table don't match Calendar dates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872930" y="2072283"/>
            <a:ext cx="47625" cy="47625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1" name="Text 29"/>
          <p:cNvSpPr/>
          <p:nvPr/>
        </p:nvSpPr>
        <p:spPr>
          <a:xfrm>
            <a:off x="5011192" y="2043001"/>
            <a:ext cx="236220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Date/Time vs Date type mismatch between columns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872930" y="2277963"/>
            <a:ext cx="47625" cy="47625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3" name="Text 31"/>
          <p:cNvSpPr/>
          <p:nvPr/>
        </p:nvSpPr>
        <p:spPr>
          <a:xfrm>
            <a:off x="5012085" y="2248681"/>
            <a:ext cx="1814513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 table contains null or missing dates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686784" y="2627523"/>
            <a:ext cx="4090987" cy="952500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5" name="Text 33"/>
          <p:cNvSpPr/>
          <p:nvPr/>
        </p:nvSpPr>
        <p:spPr>
          <a:xfrm>
            <a:off x="4874902" y="2762771"/>
            <a:ext cx="371475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486"/>
              </a:spcAft>
              <a:buNone/>
            </a:pPr>
            <a:r>
              <a:rPr lang="en-US" sz="6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FIX OPTIONS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874902" y="2940397"/>
            <a:ext cx="3714750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1 (Best):</a:t>
            </a: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Fix the relationship Calendar[Date] ↔ PnL[Month]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874902" y="3126209"/>
            <a:ext cx="3714750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2:</a:t>
            </a: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Change both columns to Date type (not Date/Time)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874902" y="3312021"/>
            <a:ext cx="3714750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3:</a:t>
            </a: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Filter out (Blank) in the visual filter pane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66713" y="4738613"/>
            <a:ext cx="8410575" cy="200025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40" name="Text 38"/>
          <p:cNvSpPr/>
          <p:nvPr/>
        </p:nvSpPr>
        <p:spPr>
          <a:xfrm>
            <a:off x="366006" y="4822403"/>
            <a:ext cx="9096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 Reference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7145499" y="4822403"/>
            <a:ext cx="16335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 · Calendar Table•Slide 6 of 14</a:t>
            </a:r>
            <a:endParaRPr lang="en-US" sz="600" dirty="0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053"/>
            <a:ext cx="8410575" cy="271463"/>
          </a:xfrm>
          <a:prstGeom prst="rect">
            <a:avLst/>
          </a:prstGeom>
        </p:spPr>
      </p:pic>
      <p:pic>
        <p:nvPicPr>
          <p:cNvPr id="4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4738613"/>
            <a:ext cx="841057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366713" y="206053"/>
            <a:ext cx="8410575" cy="271463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364666" y="204601"/>
            <a:ext cx="166688" cy="166688"/>
          </a:xfrm>
          <a:prstGeom prst="roundRect">
            <a:avLst>
              <a:gd name="adj" fmla="val 3009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604354" y="204639"/>
            <a:ext cx="72866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027999" y="218889"/>
            <a:ext cx="133826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2 — TOP N RANKING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48874" y="218889"/>
            <a:ext cx="2286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261" y="631403"/>
            <a:ext cx="402431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spcAft>
                <a:spcPts val="486"/>
              </a:spcAft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DAX MEASURES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261" y="845269"/>
            <a:ext cx="4024312" cy="314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84"/>
              </a:lnSpc>
              <a:spcAft>
                <a:spcPts val="810"/>
              </a:spcAft>
              <a:buNone/>
            </a:pPr>
            <a:r>
              <a:rPr lang="en-US" sz="21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N Ranking in Power BI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65261" y="1262360"/>
            <a:ext cx="4024312" cy="3524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2"/>
              </a:lnSpc>
              <a:spcAft>
                <a:spcPts val="1013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measures work together: one ranks every department, the other returns revenue only for the top positions.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261" y="1743373"/>
            <a:ext cx="4024312" cy="1490663"/>
          </a:xfrm>
          <a:prstGeom prst="roundRect">
            <a:avLst>
              <a:gd name="adj" fmla="val 3010"/>
            </a:avLst>
          </a:prstGeom>
          <a:solidFill>
            <a:srgbClr val="0F29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567668" y="1871774"/>
            <a:ext cx="361950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2"/>
              </a:lnSpc>
              <a:spcAft>
                <a:spcPts val="203"/>
              </a:spcAft>
              <a:buNone/>
            </a:pPr>
            <a:r>
              <a:rPr lang="en-US" sz="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Rank measure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67668" y="2041401"/>
            <a:ext cx="361950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9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By Rank =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67668" y="2218953"/>
            <a:ext cx="361950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9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RANKX(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67668" y="2396505"/>
            <a:ext cx="361950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9"/>
              </a:lnSpc>
              <a:buNone/>
            </a:pPr>
            <a:r>
              <a:rPr lang="en-US" sz="7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ALLSELECTED(Sales_YTD[Department]),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67668" y="2574057"/>
            <a:ext cx="361950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9"/>
              </a:lnSpc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[Total Revenue],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67668" y="2751609"/>
            <a:ext cx="361950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9"/>
              </a:lnSpc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DESC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67668" y="2929161"/>
            <a:ext cx="361950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9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65261" y="3337396"/>
            <a:ext cx="4024312" cy="1314450"/>
          </a:xfrm>
          <a:prstGeom prst="roundRect">
            <a:avLst>
              <a:gd name="adj" fmla="val 3871"/>
            </a:avLst>
          </a:prstGeom>
          <a:solidFill>
            <a:srgbClr val="0F29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567668" y="3466467"/>
            <a:ext cx="361950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2"/>
              </a:lnSpc>
              <a:spcAft>
                <a:spcPts val="203"/>
              </a:spcAft>
              <a:buNone/>
            </a:pPr>
            <a:r>
              <a:rPr lang="en-US" sz="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Filter to Top 5 only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67668" y="3636094"/>
            <a:ext cx="361950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9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5 DEPARTMENT =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67668" y="3813646"/>
            <a:ext cx="361950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9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67668" y="3991198"/>
            <a:ext cx="361950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9"/>
              </a:lnSpc>
              <a:buNone/>
            </a:pPr>
            <a:r>
              <a:rPr lang="en-US" sz="7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[Revenue By Rank] &lt;= 5,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67668" y="4168750"/>
            <a:ext cx="361950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9"/>
              </a:lnSpc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[Total Revenue]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67668" y="4346302"/>
            <a:ext cx="361950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9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754389" y="1237915"/>
            <a:ext cx="4024312" cy="1085850"/>
          </a:xfrm>
          <a:prstGeom prst="roundRect">
            <a:avLst>
              <a:gd name="adj" fmla="val 567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4942508" y="1371898"/>
            <a:ext cx="36480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607"/>
              </a:spcAft>
              <a:buNone/>
            </a:pPr>
            <a:r>
              <a:rPr lang="en-US" sz="6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RANKX PARAMETERS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942508" y="1564072"/>
            <a:ext cx="364807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</a:t>
            </a:r>
            <a:r>
              <a:rPr lang="en-US" sz="7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ALLSELECTED(…[Department])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942508" y="1805322"/>
            <a:ext cx="364807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Expression</a:t>
            </a:r>
            <a:r>
              <a:rPr lang="en-US" sz="7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[Total Revenue]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942508" y="2047466"/>
            <a:ext cx="36480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</a:t>
            </a:r>
            <a:r>
              <a:rPr lang="en-US" sz="7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 (highest = rank 1)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754389" y="2427312"/>
            <a:ext cx="4024312" cy="1033462"/>
          </a:xfrm>
          <a:prstGeom prst="roundRect">
            <a:avLst>
              <a:gd name="adj" fmla="val 626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2" name="Text 30"/>
          <p:cNvSpPr/>
          <p:nvPr/>
        </p:nvSpPr>
        <p:spPr>
          <a:xfrm>
            <a:off x="4942508" y="2561555"/>
            <a:ext cx="36480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486"/>
              </a:spcAft>
              <a:buNone/>
            </a:pPr>
            <a:r>
              <a:rPr lang="en-US" sz="6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TOP N VS DAX RANKING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942508" y="2739703"/>
            <a:ext cx="3648075" cy="2667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Top N filter</a:t>
            </a: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Faster, cleaner, more accurate totals. Use this when possible.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942508" y="3059906"/>
            <a:ext cx="3648075" cy="2667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DAX RANKX</a:t>
            </a: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Use for conditional formatting, dynamic labels, custom logic, or reusable measures across visuals.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754389" y="3564657"/>
            <a:ext cx="4024312" cy="481012"/>
          </a:xfrm>
          <a:prstGeom prst="roundRect">
            <a:avLst>
              <a:gd name="adj" fmla="val 28910"/>
            </a:avLst>
          </a:prstGeom>
          <a:solidFill>
            <a:srgbClr val="0D9488">
              <a:alpha val="7000"/>
            </a:srgbClr>
          </a:solidFill>
          <a:ln w="4763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Text 34"/>
          <p:cNvSpPr/>
          <p:nvPr/>
        </p:nvSpPr>
        <p:spPr>
          <a:xfrm>
            <a:off x="4942508" y="3662288"/>
            <a:ext cx="3648075" cy="285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IF([Revenue By Rank] &lt;= 5, …) pattern returns BLANK for departments outside the top 5, which hides them automatically in most visuals.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66713" y="4805214"/>
            <a:ext cx="8410575" cy="200025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38" name="Text 36"/>
          <p:cNvSpPr/>
          <p:nvPr/>
        </p:nvSpPr>
        <p:spPr>
          <a:xfrm>
            <a:off x="366006" y="4889004"/>
            <a:ext cx="9096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 Reference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7154652" y="4889004"/>
            <a:ext cx="1624012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2 · Top N Ranking•Slide 7 of 14</a:t>
            </a:r>
            <a:endParaRPr lang="en-US" sz="600" dirty="0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053"/>
            <a:ext cx="8410575" cy="271463"/>
          </a:xfrm>
          <a:prstGeom prst="rect">
            <a:avLst/>
          </a:prstGeom>
        </p:spPr>
      </p:pic>
      <p:pic>
        <p:nvPicPr>
          <p:cNvPr id="4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42508" y="1564072"/>
            <a:ext cx="3648075" cy="190500"/>
          </a:xfrm>
          <a:prstGeom prst="rect">
            <a:avLst/>
          </a:prstGeom>
        </p:spPr>
      </p:pic>
      <p:pic>
        <p:nvPicPr>
          <p:cNvPr id="4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42508" y="1805322"/>
            <a:ext cx="3648075" cy="190500"/>
          </a:xfrm>
          <a:prstGeom prst="rect">
            <a:avLst/>
          </a:prstGeom>
        </p:spPr>
      </p:pic>
      <p:pic>
        <p:nvPicPr>
          <p:cNvPr id="4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4805214"/>
            <a:ext cx="841057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366713" y="206053"/>
            <a:ext cx="8410575" cy="271463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364666" y="204601"/>
            <a:ext cx="166688" cy="166688"/>
          </a:xfrm>
          <a:prstGeom prst="roundRect">
            <a:avLst>
              <a:gd name="adj" fmla="val 3009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604354" y="204639"/>
            <a:ext cx="72866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027999" y="218889"/>
            <a:ext cx="133826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2 — TOP N RANKING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48874" y="218889"/>
            <a:ext cx="2286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187" y="845269"/>
            <a:ext cx="48291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spcAft>
                <a:spcPts val="486"/>
              </a:spcAft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FUNCTION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187" y="1057573"/>
            <a:ext cx="4829175" cy="738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98"/>
              </a:lnSpc>
              <a:spcAft>
                <a:spcPts val="607"/>
              </a:spcAft>
              <a:buNone/>
            </a:pPr>
            <a:r>
              <a:rPr lang="en-US" sz="25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ALLSELECTED() is Important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65261" y="1871290"/>
            <a:ext cx="4024312" cy="3667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1215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ALLSELECTED() is the key to making ranking and contribution measures respond correctly to slicers and report-level filters.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187" y="2392673"/>
            <a:ext cx="4829175" cy="1019175"/>
          </a:xfrm>
          <a:prstGeom prst="roundRect">
            <a:avLst>
              <a:gd name="adj" fmla="val 6440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553306" y="2526209"/>
            <a:ext cx="4452937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486"/>
              </a:spcAft>
              <a:buNone/>
            </a:pPr>
            <a:r>
              <a:rPr lang="en-US" sz="6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ALLSELECTED() DOES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552376" y="2733154"/>
            <a:ext cx="47625" cy="47625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691046" y="2702570"/>
            <a:ext cx="3862387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Removes the current row/column filter context from the specified table or column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52376" y="2945755"/>
            <a:ext cx="47625" cy="47625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689335" y="2915171"/>
            <a:ext cx="280511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Preserves filters from slicers, report filters, and page filters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52376" y="3158356"/>
            <a:ext cx="47625" cy="47625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689372" y="3127772"/>
            <a:ext cx="38862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Ranking and contribution recalculate automatically for the user's current selection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65187" y="3514837"/>
            <a:ext cx="4829175" cy="857250"/>
          </a:xfrm>
          <a:prstGeom prst="roundRect">
            <a:avLst>
              <a:gd name="adj" fmla="val 9102"/>
            </a:avLst>
          </a:prstGeom>
          <a:solidFill>
            <a:srgbClr val="0D9488">
              <a:alpha val="7000"/>
            </a:srgbClr>
          </a:solidFill>
          <a:ln w="4763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553306" y="3624337"/>
            <a:ext cx="4452937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324"/>
              </a:spcAft>
              <a:buNone/>
            </a:pPr>
            <a:r>
              <a:rPr lang="en-US" sz="6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53306" y="3781760"/>
            <a:ext cx="4452937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7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selects </a:t>
            </a: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= 2021</a:t>
            </a: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a slicer. ALLSELECTED() causes RANKX to rank only departments that have 2021 data — rank 1 is the top department for 2021, not all years combined.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559177" y="632222"/>
            <a:ext cx="3219450" cy="3952875"/>
          </a:xfrm>
          <a:prstGeom prst="roundRect">
            <a:avLst>
              <a:gd name="adj" fmla="val 64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5792539" y="790873"/>
            <a:ext cx="2752725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spcAft>
                <a:spcPts val="810"/>
              </a:spcAft>
              <a:buNone/>
            </a:pP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Slicer Awareness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792539" y="1126220"/>
            <a:ext cx="2752725" cy="471488"/>
          </a:xfrm>
          <a:prstGeom prst="roundRect">
            <a:avLst>
              <a:gd name="adj" fmla="val 5642"/>
            </a:avLst>
          </a:prstGeom>
          <a:solidFill>
            <a:srgbClr val="F8FAFC"/>
          </a:solidFill>
          <a:ln w="4763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5935414" y="1208708"/>
            <a:ext cx="2466975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4"/>
              </a:lnSpc>
              <a:spcAft>
                <a:spcPts val="203"/>
              </a:spcAft>
              <a:buNone/>
            </a:pPr>
            <a:r>
              <a:rPr lang="en-US" sz="5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SLICER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5935266" y="1343918"/>
            <a:ext cx="347663" cy="171450"/>
          </a:xfrm>
          <a:prstGeom prst="roundRect">
            <a:avLst>
              <a:gd name="adj" fmla="val 21333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6337250" y="1343918"/>
            <a:ext cx="361950" cy="171450"/>
          </a:xfrm>
          <a:prstGeom prst="roundRect">
            <a:avLst>
              <a:gd name="adj" fmla="val 21333"/>
            </a:avLst>
          </a:prstGeom>
          <a:solidFill>
            <a:srgbClr val="E2E8F0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6752444" y="1343918"/>
            <a:ext cx="361950" cy="171450"/>
          </a:xfrm>
          <a:prstGeom prst="roundRect">
            <a:avLst>
              <a:gd name="adj" fmla="val 21333"/>
            </a:avLst>
          </a:prstGeom>
          <a:solidFill>
            <a:srgbClr val="E2E8F0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5792539" y="1689348"/>
            <a:ext cx="2752725" cy="819150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 w="4763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Text 28"/>
          <p:cNvSpPr/>
          <p:nvPr/>
        </p:nvSpPr>
        <p:spPr>
          <a:xfrm>
            <a:off x="5935414" y="1771650"/>
            <a:ext cx="2466975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4"/>
              </a:lnSpc>
              <a:spcAft>
                <a:spcPts val="405"/>
              </a:spcAft>
              <a:buNone/>
            </a:pPr>
            <a:r>
              <a:rPr lang="en-US" sz="5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RANKING RESULT FOR 2021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5935414" y="1933240"/>
            <a:ext cx="2466975" cy="1428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Electronics</a:t>
            </a:r>
            <a:r>
              <a:rPr lang="en-US" sz="600" b="1" dirty="0">
                <a:solidFill>
                  <a:srgbClr val="0D9488"/>
                </a:solidFill>
                <a:highlight>
                  <a:srgbClr val="0D9488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Rank 1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935414" y="2108039"/>
            <a:ext cx="2466975" cy="1428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Apparel</a:t>
            </a:r>
            <a:r>
              <a:rPr lang="en-US" sz="600" b="1" dirty="0">
                <a:solidFill>
                  <a:srgbClr val="64748B"/>
                </a:solidFill>
                <a:highlight>
                  <a:srgbClr val="F1F5F9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Rank 2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935414" y="2282837"/>
            <a:ext cx="2466975" cy="1428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Grocery</a:t>
            </a:r>
            <a:r>
              <a:rPr lang="en-US" sz="600" b="1" dirty="0">
                <a:solidFill>
                  <a:srgbClr val="64748B"/>
                </a:solidFill>
                <a:highlight>
                  <a:srgbClr val="F1F5F9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Rank 3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792539" y="2601218"/>
            <a:ext cx="2752725" cy="409575"/>
          </a:xfrm>
          <a:prstGeom prst="roundRect">
            <a:avLst>
              <a:gd name="adj" fmla="val 7476"/>
            </a:avLst>
          </a:prstGeom>
          <a:solidFill>
            <a:srgbClr val="0D9488">
              <a:alpha val="7000"/>
            </a:srgbClr>
          </a:solidFill>
          <a:ln w="4763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Text 33"/>
          <p:cNvSpPr/>
          <p:nvPr/>
        </p:nvSpPr>
        <p:spPr>
          <a:xfrm>
            <a:off x="5935414" y="2682180"/>
            <a:ext cx="2466975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slicer to </a:t>
            </a:r>
            <a:r>
              <a:rPr lang="en-US" sz="6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</a:t>
            </a:r>
            <a:r>
              <a:rPr lang="en-US" sz="6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rankings update automatically. This is ALLSELECTED() at work.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366713" y="4738613"/>
            <a:ext cx="8410575" cy="200025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37" name="Text 35"/>
          <p:cNvSpPr/>
          <p:nvPr/>
        </p:nvSpPr>
        <p:spPr>
          <a:xfrm>
            <a:off x="366006" y="4822403"/>
            <a:ext cx="9096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 Reference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7150001" y="4822403"/>
            <a:ext cx="16287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2 · Top N Ranking•Slide 8 of 14</a:t>
            </a:r>
            <a:endParaRPr lang="en-US" sz="600" dirty="0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053"/>
            <a:ext cx="8410575" cy="271463"/>
          </a:xfrm>
          <a:prstGeom prst="rect">
            <a:avLst/>
          </a:prstGeom>
        </p:spPr>
      </p:pic>
      <p:pic>
        <p:nvPicPr>
          <p:cNvPr id="4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2539" y="790873"/>
            <a:ext cx="2752725" cy="233362"/>
          </a:xfrm>
          <a:prstGeom prst="rect">
            <a:avLst/>
          </a:prstGeom>
        </p:spPr>
      </p:pic>
      <p:pic>
        <p:nvPicPr>
          <p:cNvPr id="4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738613"/>
            <a:ext cx="841057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366713" y="206053"/>
            <a:ext cx="8410575" cy="271463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364666" y="204601"/>
            <a:ext cx="166688" cy="166688"/>
          </a:xfrm>
          <a:prstGeom prst="roundRect">
            <a:avLst>
              <a:gd name="adj" fmla="val 3009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604354" y="204639"/>
            <a:ext cx="72866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027999" y="218889"/>
            <a:ext cx="133826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2 — TOP N RANKING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48874" y="218889"/>
            <a:ext cx="2286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6713" y="631403"/>
            <a:ext cx="84105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88"/>
              </a:lnSpc>
              <a:spcAft>
                <a:spcPts val="405"/>
              </a:spcAft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CONTEXT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6713" y="835000"/>
            <a:ext cx="8410575" cy="314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84"/>
              </a:lnSpc>
              <a:buNone/>
            </a:pPr>
            <a:r>
              <a:rPr lang="en-US" sz="21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ALL() vs ALLSELECTED()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66713" y="1305148"/>
            <a:ext cx="4067175" cy="1743075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9525">
            <a:solidFill>
              <a:srgbClr val="EF4444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603758" y="1467185"/>
            <a:ext cx="452437" cy="176212"/>
          </a:xfrm>
          <a:prstGeom prst="roundRect">
            <a:avLst>
              <a:gd name="adj" fmla="val 64865"/>
            </a:avLst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72"/>
              </a:lnSpc>
              <a:spcAft>
                <a:spcPts val="607"/>
              </a:spcAft>
              <a:buNone/>
            </a:pPr>
            <a:r>
              <a:rPr lang="en-US" sz="6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ALL()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604838" y="1718742"/>
            <a:ext cx="35909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spcAft>
                <a:spcPts val="486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Ignores All Filters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2903" y="1981051"/>
            <a:ext cx="47625" cy="47625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723230" y="1946635"/>
            <a:ext cx="18478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Removes row context AND slicer context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02903" y="2176463"/>
            <a:ext cx="47625" cy="47625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722784" y="2142046"/>
            <a:ext cx="2576512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Totals reflect entire dataset regardless of user selections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02903" y="2371874"/>
            <a:ext cx="47625" cy="47625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723863" y="2337457"/>
            <a:ext cx="2709863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produce misleading percentages in filtered dashboards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04838" y="2584586"/>
            <a:ext cx="3590925" cy="300038"/>
          </a:xfrm>
          <a:prstGeom prst="roundRect">
            <a:avLst>
              <a:gd name="adj" fmla="val 11610"/>
            </a:avLst>
          </a:prstGeom>
          <a:solidFill>
            <a:srgbClr val="0F2942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63"/>
              </a:lnSpc>
              <a:buNone/>
            </a:pPr>
            <a:r>
              <a:rPr lang="en-US" sz="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</a:t>
            </a:r>
            <a:r>
              <a:rPr lang="en-US" sz="6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([Revenue],  </a:t>
            </a:r>
            <a:r>
              <a:rPr lang="en-US" sz="6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r>
              <a:rPr lang="en-US" sz="6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(Sales[Department]))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4710113" y="1305148"/>
            <a:ext cx="4067175" cy="1743075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  <a:effectLst>
            <a:outerShdw blurRad="57150" dist="9525" dir="5400000" algn="bl" rotWithShape="0">
              <a:srgbClr val="0D9488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4946749" y="1467185"/>
            <a:ext cx="904875" cy="176212"/>
          </a:xfrm>
          <a:prstGeom prst="roundRect">
            <a:avLst>
              <a:gd name="adj" fmla="val 64865"/>
            </a:avLst>
          </a:prstGeom>
          <a:solidFill>
            <a:srgbClr val="0D9488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72"/>
              </a:lnSpc>
              <a:spcAft>
                <a:spcPts val="607"/>
              </a:spcAft>
              <a:buNone/>
            </a:pPr>
            <a:r>
              <a:rPr lang="en-US" sz="6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ALLSELECTED()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948238" y="1718742"/>
            <a:ext cx="35909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spcAft>
                <a:spcPts val="486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Respects Slicer Filters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946303" y="1981051"/>
            <a:ext cx="47625" cy="47625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5065961" y="1946635"/>
            <a:ext cx="1890712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Removes only the row/column visual filter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946303" y="2176463"/>
            <a:ext cx="47625" cy="47625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6" name="Text 24"/>
          <p:cNvSpPr/>
          <p:nvPr/>
        </p:nvSpPr>
        <p:spPr>
          <a:xfrm>
            <a:off x="5065514" y="2142046"/>
            <a:ext cx="233838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Totals update dynamically based on slicer selection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946303" y="2371874"/>
            <a:ext cx="47625" cy="47625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8" name="Text 26"/>
          <p:cNvSpPr/>
          <p:nvPr/>
        </p:nvSpPr>
        <p:spPr>
          <a:xfrm>
            <a:off x="5065477" y="2337457"/>
            <a:ext cx="308133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for all dashboard contribution and ranking measures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948238" y="2584586"/>
            <a:ext cx="3590925" cy="300038"/>
          </a:xfrm>
          <a:prstGeom prst="roundRect">
            <a:avLst>
              <a:gd name="adj" fmla="val 11610"/>
            </a:avLst>
          </a:prstGeom>
          <a:solidFill>
            <a:srgbClr val="0F2942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63"/>
              </a:lnSpc>
              <a:buNone/>
            </a:pPr>
            <a:r>
              <a:rPr lang="en-US" sz="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</a:t>
            </a:r>
            <a:r>
              <a:rPr lang="en-US" sz="6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([Revenue],  </a:t>
            </a:r>
            <a:r>
              <a:rPr lang="en-US" sz="6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ALLSELECTED</a:t>
            </a:r>
            <a:r>
              <a:rPr lang="en-US" sz="6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(Sales[Department]))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366713" y="3202930"/>
            <a:ext cx="8410575" cy="381000"/>
          </a:xfrm>
          <a:prstGeom prst="roundRect">
            <a:avLst>
              <a:gd name="adj" fmla="val 11520"/>
            </a:avLst>
          </a:prstGeom>
          <a:solidFill>
            <a:srgbClr val="0D9488">
              <a:alpha val="7000"/>
            </a:srgbClr>
          </a:solidFill>
          <a:ln w="4763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Text 29"/>
          <p:cNvSpPr/>
          <p:nvPr/>
        </p:nvSpPr>
        <p:spPr>
          <a:xfrm>
            <a:off x="600075" y="3310086"/>
            <a:ext cx="79438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r>
              <a:rPr lang="en-US" sz="8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ALLSELECTED()</a:t>
            </a:r>
            <a:r>
              <a:rPr lang="en-US" sz="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dashboards where users apply slicers — it makes every measure slicer-aware and always contextually correct.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6713" y="4738613"/>
            <a:ext cx="8410575" cy="200025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33" name="Text 31"/>
          <p:cNvSpPr/>
          <p:nvPr/>
        </p:nvSpPr>
        <p:spPr>
          <a:xfrm>
            <a:off x="366006" y="4822403"/>
            <a:ext cx="9096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 Reference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7150001" y="4822403"/>
            <a:ext cx="16287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2 · Top N Ranking•Slide 9 of 14</a:t>
            </a:r>
            <a:endParaRPr lang="en-US" sz="6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053"/>
            <a:ext cx="8410575" cy="271463"/>
          </a:xfrm>
          <a:prstGeom prst="rect">
            <a:avLst/>
          </a:prstGeom>
        </p:spPr>
      </p:pic>
      <p:pic>
        <p:nvPicPr>
          <p:cNvPr id="3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4738613"/>
            <a:ext cx="841057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366713" y="206053"/>
            <a:ext cx="8410575" cy="271463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364666" y="204601"/>
            <a:ext cx="166688" cy="166688"/>
          </a:xfrm>
          <a:prstGeom prst="roundRect">
            <a:avLst>
              <a:gd name="adj" fmla="val 3009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604354" y="204639"/>
            <a:ext cx="72866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21648" y="218889"/>
            <a:ext cx="184308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3 — CONTRIBUTION MEASURES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48874" y="218889"/>
            <a:ext cx="2286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261" y="658192"/>
            <a:ext cx="402431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spcAft>
                <a:spcPts val="486"/>
              </a:spcAft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REVENUE SHARE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261" y="872058"/>
            <a:ext cx="4024312" cy="314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84"/>
              </a:lnSpc>
              <a:spcAft>
                <a:spcPts val="607"/>
              </a:spcAft>
              <a:buNone/>
            </a:pPr>
            <a:r>
              <a:rPr lang="en-US" sz="21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Contribution 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65261" y="1263402"/>
            <a:ext cx="4024312" cy="3524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2"/>
              </a:lnSpc>
              <a:spcAft>
                <a:spcPts val="1013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 the question: </a:t>
            </a:r>
            <a:r>
              <a:rPr lang="en-US" sz="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"What percentage of the currently selected total revenue comes from this department?"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261" y="1743038"/>
            <a:ext cx="4024312" cy="1900238"/>
          </a:xfrm>
          <a:prstGeom prst="roundRect">
            <a:avLst>
              <a:gd name="adj" fmla="val 1852"/>
            </a:avLst>
          </a:prstGeom>
          <a:solidFill>
            <a:srgbClr val="0F29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567668" y="1873114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 Contribution % =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67668" y="2055502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67668" y="2237891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[Total Revenue],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67668" y="2420280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67668" y="2602669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[Total Revenue],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67668" y="2785058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ALLSELECTED('Sales_YTD'[Department])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67668" y="2967447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7668" y="3149836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67668" y="3332225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65261" y="3744664"/>
            <a:ext cx="4024312" cy="814388"/>
          </a:xfrm>
          <a:prstGeom prst="roundRect">
            <a:avLst>
              <a:gd name="adj" fmla="val 10086"/>
            </a:avLst>
          </a:prstGeom>
          <a:solidFill>
            <a:srgbClr val="0D9488">
              <a:alpha val="7000"/>
            </a:srgbClr>
          </a:solidFill>
          <a:ln w="4763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553380" y="3843784"/>
            <a:ext cx="36480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324"/>
              </a:spcAft>
              <a:buNone/>
            </a:pPr>
            <a:r>
              <a:rPr lang="en-US" sz="6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 LOGIC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53380" y="3999681"/>
            <a:ext cx="3648075" cy="4619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Revenue ÷ Total Selected Revenue. The denominator uses ALLSELECTED to sum across all departments while respecting any year or region slicer.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754389" y="1445791"/>
            <a:ext cx="4024312" cy="1423987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4942508" y="1581299"/>
            <a:ext cx="36480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607"/>
              </a:spcAft>
              <a:buNone/>
            </a:pPr>
            <a:r>
              <a:rPr lang="en-US" sz="6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OUTPUT — YEAR 2021 SELECTED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942061" y="1774366"/>
            <a:ext cx="509587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Electronics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310586" y="1831479"/>
            <a:ext cx="914400" cy="28575"/>
          </a:xfrm>
          <a:prstGeom prst="roundRect">
            <a:avLst>
              <a:gd name="adj" fmla="val 266667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8" name="Shape 26"/>
          <p:cNvSpPr/>
          <p:nvPr/>
        </p:nvSpPr>
        <p:spPr>
          <a:xfrm>
            <a:off x="7310475" y="1831479"/>
            <a:ext cx="347663" cy="28575"/>
          </a:xfrm>
          <a:prstGeom prst="roundRect">
            <a:avLst>
              <a:gd name="adj" fmla="val 26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9" name="Text 27"/>
          <p:cNvSpPr/>
          <p:nvPr/>
        </p:nvSpPr>
        <p:spPr>
          <a:xfrm>
            <a:off x="8315399" y="1774366"/>
            <a:ext cx="27622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38%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942880" y="1980047"/>
            <a:ext cx="35718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Apparel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310586" y="2037159"/>
            <a:ext cx="914400" cy="28575"/>
          </a:xfrm>
          <a:prstGeom prst="roundRect">
            <a:avLst>
              <a:gd name="adj" fmla="val 266667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2" name="Shape 30"/>
          <p:cNvSpPr/>
          <p:nvPr/>
        </p:nvSpPr>
        <p:spPr>
          <a:xfrm>
            <a:off x="7310177" y="2037159"/>
            <a:ext cx="247650" cy="28575"/>
          </a:xfrm>
          <a:prstGeom prst="roundRect">
            <a:avLst>
              <a:gd name="adj" fmla="val 26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3" name="Text 31"/>
          <p:cNvSpPr/>
          <p:nvPr/>
        </p:nvSpPr>
        <p:spPr>
          <a:xfrm>
            <a:off x="8315399" y="1980047"/>
            <a:ext cx="27622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27%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942024" y="2185727"/>
            <a:ext cx="3714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Grocery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7310586" y="2242840"/>
            <a:ext cx="914400" cy="28575"/>
          </a:xfrm>
          <a:prstGeom prst="roundRect">
            <a:avLst>
              <a:gd name="adj" fmla="val 266667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6" name="Shape 34"/>
          <p:cNvSpPr/>
          <p:nvPr/>
        </p:nvSpPr>
        <p:spPr>
          <a:xfrm>
            <a:off x="7311144" y="2242840"/>
            <a:ext cx="200025" cy="28575"/>
          </a:xfrm>
          <a:prstGeom prst="roundRect">
            <a:avLst>
              <a:gd name="adj" fmla="val 26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7" name="Text 35"/>
          <p:cNvSpPr/>
          <p:nvPr/>
        </p:nvSpPr>
        <p:spPr>
          <a:xfrm>
            <a:off x="8315399" y="2185727"/>
            <a:ext cx="27622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22%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942917" y="2391408"/>
            <a:ext cx="719137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&amp; Garden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7310586" y="2448520"/>
            <a:ext cx="914400" cy="28575"/>
          </a:xfrm>
          <a:prstGeom prst="roundRect">
            <a:avLst>
              <a:gd name="adj" fmla="val 266667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0" name="Shape 38"/>
          <p:cNvSpPr/>
          <p:nvPr/>
        </p:nvSpPr>
        <p:spPr>
          <a:xfrm>
            <a:off x="7310475" y="2448520"/>
            <a:ext cx="119062" cy="28575"/>
          </a:xfrm>
          <a:prstGeom prst="roundRect">
            <a:avLst>
              <a:gd name="adj" fmla="val 26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1" name="Text 39"/>
          <p:cNvSpPr/>
          <p:nvPr/>
        </p:nvSpPr>
        <p:spPr>
          <a:xfrm>
            <a:off x="8315399" y="2391408"/>
            <a:ext cx="27622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13%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942508" y="2611748"/>
            <a:ext cx="36480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Bef>
                <a:spcPts val="607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Values change dynamically when year slicer changes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4754389" y="2970981"/>
            <a:ext cx="4024312" cy="800100"/>
          </a:xfrm>
          <a:prstGeom prst="roundRect">
            <a:avLst>
              <a:gd name="adj" fmla="val 10449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4" name="Text 42"/>
          <p:cNvSpPr/>
          <p:nvPr/>
        </p:nvSpPr>
        <p:spPr>
          <a:xfrm>
            <a:off x="4942508" y="3080296"/>
            <a:ext cx="36480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405"/>
              </a:spcAft>
              <a:buNone/>
            </a:pPr>
            <a:r>
              <a:rPr lang="en-US" sz="6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USES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4943215" y="3247058"/>
            <a:ext cx="814388" cy="171450"/>
          </a:xfrm>
          <a:prstGeom prst="roundRect">
            <a:avLst>
              <a:gd name="adj" fmla="val 66667"/>
            </a:avLst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Pareto Analysis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5831235" y="3247058"/>
            <a:ext cx="800100" cy="171450"/>
          </a:xfrm>
          <a:prstGeom prst="roundRect">
            <a:avLst>
              <a:gd name="adj" fmla="val 66667"/>
            </a:avLst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Share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6703144" y="3247058"/>
            <a:ext cx="876300" cy="171450"/>
          </a:xfrm>
          <a:prstGeom prst="roundRect">
            <a:avLst>
              <a:gd name="adj" fmla="val 66667"/>
            </a:avLst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Contributors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942880" y="3491508"/>
            <a:ext cx="1081087" cy="171450"/>
          </a:xfrm>
          <a:prstGeom prst="roundRect">
            <a:avLst>
              <a:gd name="adj" fmla="val 66667"/>
            </a:avLst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Analysis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366713" y="4738613"/>
            <a:ext cx="8410575" cy="200025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50" name="Text 48"/>
          <p:cNvSpPr/>
          <p:nvPr/>
        </p:nvSpPr>
        <p:spPr>
          <a:xfrm>
            <a:off x="366006" y="4822403"/>
            <a:ext cx="9096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 Reference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6806357" y="4822403"/>
            <a:ext cx="19716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3 · Contribution Measures•Slide 10 of 14</a:t>
            </a:r>
            <a:endParaRPr lang="en-US" sz="600" dirty="0"/>
          </a:p>
        </p:txBody>
      </p:sp>
      <p:pic>
        <p:nvPicPr>
          <p:cNvPr id="5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053"/>
            <a:ext cx="8410575" cy="271463"/>
          </a:xfrm>
          <a:prstGeom prst="rect">
            <a:avLst/>
          </a:prstGeom>
        </p:spPr>
      </p:pic>
      <p:pic>
        <p:nvPicPr>
          <p:cNvPr id="5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4738613"/>
            <a:ext cx="841057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366713" y="206053"/>
            <a:ext cx="8410575" cy="271463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364666" y="204601"/>
            <a:ext cx="166688" cy="166688"/>
          </a:xfrm>
          <a:prstGeom prst="roundRect">
            <a:avLst>
              <a:gd name="adj" fmla="val 3009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604354" y="204639"/>
            <a:ext cx="72866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21648" y="218889"/>
            <a:ext cx="184308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3 — CONTRIBUTION MEASURES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48874" y="218889"/>
            <a:ext cx="2286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261" y="734988"/>
            <a:ext cx="402431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spcAft>
                <a:spcPts val="486"/>
              </a:spcAft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REVENUE SHARE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261" y="948854"/>
            <a:ext cx="4024312" cy="314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84"/>
              </a:lnSpc>
              <a:spcAft>
                <a:spcPts val="607"/>
              </a:spcAft>
              <a:buNone/>
            </a:pPr>
            <a:r>
              <a:rPr lang="en-US" sz="21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Revenue Contribution 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65261" y="1340197"/>
            <a:ext cx="4024312" cy="3524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2"/>
              </a:lnSpc>
              <a:spcAft>
                <a:spcPts val="1013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 the question: </a:t>
            </a:r>
            <a:r>
              <a:rPr lang="en-US" sz="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"What percentage of the currently selected total revenue comes from this store?"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261" y="1819833"/>
            <a:ext cx="4024312" cy="1900238"/>
          </a:xfrm>
          <a:prstGeom prst="roundRect">
            <a:avLst>
              <a:gd name="adj" fmla="val 1852"/>
            </a:avLst>
          </a:prstGeom>
          <a:solidFill>
            <a:srgbClr val="0F29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567668" y="1949909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 Contribution % =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67668" y="2132298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67668" y="2314687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[Total Revenue],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67668" y="2497075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67668" y="2679464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[Total Revenue],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67668" y="2861853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ALLSELECTED('Sales_YTD'[Store Name])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67668" y="3044242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7668" y="3226631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67668" y="3409020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65261" y="3823246"/>
            <a:ext cx="4024312" cy="657225"/>
          </a:xfrm>
          <a:prstGeom prst="roundRect">
            <a:avLst>
              <a:gd name="adj" fmla="val 15486"/>
            </a:avLst>
          </a:prstGeom>
          <a:solidFill>
            <a:srgbClr val="0D9488">
              <a:alpha val="7000"/>
            </a:srgbClr>
          </a:solidFill>
          <a:ln w="4763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553380" y="3920579"/>
            <a:ext cx="36480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324"/>
              </a:spcAft>
              <a:buNone/>
            </a:pPr>
            <a:r>
              <a:rPr lang="en-US" sz="6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CHANGE FROM DEPT FORMULA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53380" y="4075881"/>
            <a:ext cx="3648075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column inside ALLSELECTED changes from </a:t>
            </a:r>
            <a:r>
              <a:rPr lang="en-US" sz="7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[Department]</a:t>
            </a: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</a:t>
            </a:r>
            <a:r>
              <a:rPr lang="en-US" sz="7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[Store Name]</a:t>
            </a: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pattern is identical.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754389" y="1369144"/>
            <a:ext cx="4024312" cy="1700213"/>
          </a:xfrm>
          <a:prstGeom prst="roundRect">
            <a:avLst>
              <a:gd name="adj" fmla="val 2314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4942508" y="1504131"/>
            <a:ext cx="36480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607"/>
              </a:spcAft>
              <a:buNone/>
            </a:pPr>
            <a:r>
              <a:rPr lang="en-US" sz="6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OUTPUT — STORE REVENUE SHARE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942508" y="1697199"/>
            <a:ext cx="36480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Dubai Mall</a:t>
            </a: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32%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942508" y="1860277"/>
            <a:ext cx="3648075" cy="42863"/>
          </a:xfrm>
          <a:prstGeom prst="roundRect">
            <a:avLst>
              <a:gd name="adj" fmla="val 118517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8" name="Shape 26"/>
          <p:cNvSpPr/>
          <p:nvPr/>
        </p:nvSpPr>
        <p:spPr>
          <a:xfrm>
            <a:off x="4942731" y="1860277"/>
            <a:ext cx="1166812" cy="42863"/>
          </a:xfrm>
          <a:prstGeom prst="roundRect">
            <a:avLst>
              <a:gd name="adj" fmla="val 11851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9" name="Text 27"/>
          <p:cNvSpPr/>
          <p:nvPr/>
        </p:nvSpPr>
        <p:spPr>
          <a:xfrm>
            <a:off x="4942508" y="1974763"/>
            <a:ext cx="36480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Riyadh Park</a:t>
            </a: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26%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942508" y="2137842"/>
            <a:ext cx="3648075" cy="42863"/>
          </a:xfrm>
          <a:prstGeom prst="roundRect">
            <a:avLst>
              <a:gd name="adj" fmla="val 118517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1" name="Shape 29"/>
          <p:cNvSpPr/>
          <p:nvPr/>
        </p:nvSpPr>
        <p:spPr>
          <a:xfrm>
            <a:off x="4942805" y="2137842"/>
            <a:ext cx="947737" cy="42863"/>
          </a:xfrm>
          <a:prstGeom prst="roundRect">
            <a:avLst>
              <a:gd name="adj" fmla="val 11851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2" name="Text 30"/>
          <p:cNvSpPr/>
          <p:nvPr/>
        </p:nvSpPr>
        <p:spPr>
          <a:xfrm>
            <a:off x="4942508" y="2252328"/>
            <a:ext cx="36480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Abu Dhabi Central</a:t>
            </a: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24%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942508" y="2415406"/>
            <a:ext cx="3648075" cy="42863"/>
          </a:xfrm>
          <a:prstGeom prst="roundRect">
            <a:avLst>
              <a:gd name="adj" fmla="val 118517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4" name="Shape 32"/>
          <p:cNvSpPr/>
          <p:nvPr/>
        </p:nvSpPr>
        <p:spPr>
          <a:xfrm>
            <a:off x="4942061" y="2415406"/>
            <a:ext cx="876300" cy="42863"/>
          </a:xfrm>
          <a:prstGeom prst="roundRect">
            <a:avLst>
              <a:gd name="adj" fmla="val 11851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5" name="Text 33"/>
          <p:cNvSpPr/>
          <p:nvPr/>
        </p:nvSpPr>
        <p:spPr>
          <a:xfrm>
            <a:off x="4942508" y="2529892"/>
            <a:ext cx="36480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Jeddah Branch</a:t>
            </a: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18%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942508" y="2692971"/>
            <a:ext cx="3648075" cy="42863"/>
          </a:xfrm>
          <a:prstGeom prst="roundRect">
            <a:avLst>
              <a:gd name="adj" fmla="val 118517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7" name="Shape 35"/>
          <p:cNvSpPr/>
          <p:nvPr/>
        </p:nvSpPr>
        <p:spPr>
          <a:xfrm>
            <a:off x="4942136" y="2692971"/>
            <a:ext cx="657225" cy="42863"/>
          </a:xfrm>
          <a:prstGeom prst="roundRect">
            <a:avLst>
              <a:gd name="adj" fmla="val 11851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8" name="Text 36"/>
          <p:cNvSpPr/>
          <p:nvPr/>
        </p:nvSpPr>
        <p:spPr>
          <a:xfrm>
            <a:off x="4942508" y="2811847"/>
            <a:ext cx="36480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Bef>
                <a:spcPts val="607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= 100% — always adds up within the current filter context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4754389" y="3171527"/>
            <a:ext cx="4024312" cy="676275"/>
          </a:xfrm>
          <a:prstGeom prst="roundRect">
            <a:avLst>
              <a:gd name="adj" fmla="val 1462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0" name="Text 38"/>
          <p:cNvSpPr/>
          <p:nvPr/>
        </p:nvSpPr>
        <p:spPr>
          <a:xfrm>
            <a:off x="4942508" y="3278684"/>
            <a:ext cx="3648075" cy="4619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DIVIDE() vs division operator:</a:t>
            </a: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Always use DIVIDE(a, b, 0) instead of a/b. It handles divide-by-zero gracefully — returning 0 instead of an error when no data exists.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66713" y="4738613"/>
            <a:ext cx="8410575" cy="200025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42" name="Text 40"/>
          <p:cNvSpPr/>
          <p:nvPr/>
        </p:nvSpPr>
        <p:spPr>
          <a:xfrm>
            <a:off x="366006" y="4822403"/>
            <a:ext cx="9096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 Reference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6824849" y="4822403"/>
            <a:ext cx="195262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3 · Contribution Measures•Slide 11 of 14</a:t>
            </a:r>
            <a:endParaRPr lang="en-US" sz="600" dirty="0"/>
          </a:p>
        </p:txBody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053"/>
            <a:ext cx="8410575" cy="271463"/>
          </a:xfrm>
          <a:prstGeom prst="rect">
            <a:avLst/>
          </a:prstGeom>
        </p:spPr>
      </p:pic>
      <p:pic>
        <p:nvPicPr>
          <p:cNvPr id="4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4738613"/>
            <a:ext cx="841057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366713" y="206053"/>
            <a:ext cx="8410575" cy="271463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364666" y="204601"/>
            <a:ext cx="166688" cy="166688"/>
          </a:xfrm>
          <a:prstGeom prst="roundRect">
            <a:avLst>
              <a:gd name="adj" fmla="val 3009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604354" y="204639"/>
            <a:ext cx="72866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21648" y="218889"/>
            <a:ext cx="184308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3 — CONTRIBUTION MEASURES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48874" y="218889"/>
            <a:ext cx="2286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261" y="734988"/>
            <a:ext cx="402431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spcAft>
                <a:spcPts val="486"/>
              </a:spcAft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PROFIT SHARE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261" y="948854"/>
            <a:ext cx="4024312" cy="314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84"/>
              </a:lnSpc>
              <a:spcAft>
                <a:spcPts val="607"/>
              </a:spcAft>
              <a:buNone/>
            </a:pPr>
            <a:r>
              <a:rPr lang="en-US" sz="21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Margin Contribution 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65261" y="1340197"/>
            <a:ext cx="4024312" cy="3524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2"/>
              </a:lnSpc>
              <a:spcAft>
                <a:spcPts val="1013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 the question: </a:t>
            </a:r>
            <a:r>
              <a:rPr lang="en-US" sz="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"What percentage of the total selected profit is contributed by this store?"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261" y="1819833"/>
            <a:ext cx="4024312" cy="1900238"/>
          </a:xfrm>
          <a:prstGeom prst="roundRect">
            <a:avLst>
              <a:gd name="adj" fmla="val 1852"/>
            </a:avLst>
          </a:prstGeom>
          <a:solidFill>
            <a:srgbClr val="0F29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567668" y="1949909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 Margin Contr % =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67668" y="2132298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67668" y="2314687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[Total Profit],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67668" y="2497075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67668" y="2679464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[Total Profit],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67668" y="2861853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ALLSELECTED('Sales_YTD'[Store Name])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67668" y="3044242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7668" y="3226631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67668" y="3409020"/>
            <a:ext cx="36195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65261" y="3823246"/>
            <a:ext cx="4024312" cy="657225"/>
          </a:xfrm>
          <a:prstGeom prst="roundRect">
            <a:avLst>
              <a:gd name="adj" fmla="val 15486"/>
            </a:avLst>
          </a:prstGeom>
          <a:solidFill>
            <a:srgbClr val="0D9488">
              <a:alpha val="7000"/>
            </a:srgbClr>
          </a:solidFill>
          <a:ln w="4763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553380" y="3920579"/>
            <a:ext cx="36480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324"/>
              </a:spcAft>
              <a:buNone/>
            </a:pPr>
            <a:r>
              <a:rPr lang="en-US" sz="6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 LOGIC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53380" y="4075881"/>
            <a:ext cx="3648075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Profit ÷ Total Selected Profit. Identical pattern to Store Revenue Contribution, but numerator and denominator both use </a:t>
            </a:r>
            <a:r>
              <a:rPr lang="en-US" sz="7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[Total Profit]</a:t>
            </a: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754389" y="1286359"/>
            <a:ext cx="4024312" cy="1200150"/>
          </a:xfrm>
          <a:prstGeom prst="roundRect">
            <a:avLst>
              <a:gd name="adj" fmla="val 4644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4942508" y="1420267"/>
            <a:ext cx="36480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607"/>
              </a:spcAft>
              <a:buNone/>
            </a:pPr>
            <a:r>
              <a:rPr lang="en-US" sz="6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VS PROFIT CONTRIBUTION — WHY BOTH MATTER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4941503" y="1611771"/>
            <a:ext cx="1757363" cy="742950"/>
          </a:xfrm>
          <a:prstGeom prst="roundRect">
            <a:avLst>
              <a:gd name="adj" fmla="val 9089"/>
            </a:avLst>
          </a:prstGeom>
          <a:solidFill>
            <a:srgbClr val="F8FAFC"/>
          </a:solidFill>
          <a:ln w="4763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5084378" y="1695748"/>
            <a:ext cx="1471613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324"/>
              </a:spcAft>
              <a:buNone/>
            </a:pPr>
            <a:r>
              <a:rPr lang="en-US" sz="6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%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084378" y="1851496"/>
            <a:ext cx="147161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spcAft>
                <a:spcPts val="203"/>
              </a:spcAft>
              <a:buNone/>
            </a:pP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sells the most?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084378" y="2028899"/>
            <a:ext cx="1471613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8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revenue does not guarantee high profit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6834187" y="1611771"/>
            <a:ext cx="1757363" cy="742950"/>
          </a:xfrm>
          <a:prstGeom prst="roundRect">
            <a:avLst>
              <a:gd name="adj" fmla="val 9089"/>
            </a:avLst>
          </a:prstGeom>
          <a:solidFill>
            <a:srgbClr val="0D9488">
              <a:alpha val="7000"/>
            </a:srgbClr>
          </a:solidFill>
          <a:ln w="4763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Text 29"/>
          <p:cNvSpPr/>
          <p:nvPr/>
        </p:nvSpPr>
        <p:spPr>
          <a:xfrm>
            <a:off x="6977062" y="1695748"/>
            <a:ext cx="1471613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324"/>
              </a:spcAft>
              <a:buNone/>
            </a:pPr>
            <a:r>
              <a:rPr lang="en-US" sz="6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 %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6977062" y="1851496"/>
            <a:ext cx="147161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spcAft>
                <a:spcPts val="203"/>
              </a:spcAft>
              <a:buNone/>
            </a:pP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earns the most?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977062" y="2027672"/>
            <a:ext cx="1471613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8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Reveals true profitability per store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4754389" y="2589163"/>
            <a:ext cx="4024312" cy="1343025"/>
          </a:xfrm>
          <a:prstGeom prst="roundRect">
            <a:avLst>
              <a:gd name="adj" fmla="val 370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5" name="Text 33"/>
          <p:cNvSpPr/>
          <p:nvPr/>
        </p:nvSpPr>
        <p:spPr>
          <a:xfrm>
            <a:off x="4942508" y="2724373"/>
            <a:ext cx="36480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spcAft>
                <a:spcPts val="486"/>
              </a:spcAft>
              <a:buNone/>
            </a:pPr>
            <a:r>
              <a:rPr lang="en-US" sz="6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STORE CAN HAVE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942917" y="2901107"/>
            <a:ext cx="385763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20655" y="2953457"/>
            <a:ext cx="194310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Contribution — high sales volume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942061" y="3199433"/>
            <a:ext cx="347663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12%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80955" y="3251783"/>
            <a:ext cx="187642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 Contribution — thin profit margins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942508" y="3522836"/>
            <a:ext cx="3648075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203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gap reveals operational costs, discounting, or product mix issues that revenue alone hides.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66713" y="4738613"/>
            <a:ext cx="8410575" cy="200025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42" name="Text 40"/>
          <p:cNvSpPr/>
          <p:nvPr/>
        </p:nvSpPr>
        <p:spPr>
          <a:xfrm>
            <a:off x="366006" y="4822403"/>
            <a:ext cx="9096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 Reference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6807510" y="4822403"/>
            <a:ext cx="19716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3 · Contribution Measures•Slide 12 of 14</a:t>
            </a:r>
            <a:endParaRPr lang="en-US" sz="600" dirty="0"/>
          </a:p>
        </p:txBody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053"/>
            <a:ext cx="8410575" cy="271463"/>
          </a:xfrm>
          <a:prstGeom prst="rect">
            <a:avLst/>
          </a:prstGeom>
        </p:spPr>
      </p:pic>
      <p:pic>
        <p:nvPicPr>
          <p:cNvPr id="4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4738613"/>
            <a:ext cx="841057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366713" y="206053"/>
            <a:ext cx="8410575" cy="271463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364666" y="204601"/>
            <a:ext cx="166688" cy="166688"/>
          </a:xfrm>
          <a:prstGeom prst="roundRect">
            <a:avLst>
              <a:gd name="adj" fmla="val 3009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604354" y="204639"/>
            <a:ext cx="72866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21648" y="218889"/>
            <a:ext cx="184308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3 — CONTRIBUTION MEASURES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48874" y="218889"/>
            <a:ext cx="2286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6713" y="631403"/>
            <a:ext cx="84105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spcAft>
                <a:spcPts val="405"/>
              </a:spcAft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DAX STANDARDS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6713" y="835000"/>
            <a:ext cx="8410575" cy="314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84"/>
              </a:lnSpc>
              <a:buNone/>
            </a:pPr>
            <a:r>
              <a:rPr lang="en-US" sz="21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DIVIDE() — Always Use It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66713" y="1305111"/>
            <a:ext cx="4067175" cy="2452688"/>
          </a:xfrm>
          <a:prstGeom prst="roundRect">
            <a:avLst>
              <a:gd name="adj" fmla="val 1112"/>
            </a:avLst>
          </a:prstGeom>
          <a:solidFill>
            <a:srgbClr val="FFFFFF"/>
          </a:solidFill>
          <a:ln w="9525">
            <a:solidFill>
              <a:srgbClr val="EF4444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603572" y="1467185"/>
            <a:ext cx="495300" cy="176212"/>
          </a:xfrm>
          <a:prstGeom prst="roundRect">
            <a:avLst>
              <a:gd name="adj" fmla="val 64865"/>
            </a:avLst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72"/>
              </a:lnSpc>
              <a:spcAft>
                <a:spcPts val="607"/>
              </a:spcAft>
              <a:buNone/>
            </a:pPr>
            <a:r>
              <a:rPr lang="en-US" sz="6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604838" y="1718742"/>
            <a:ext cx="35909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spcAft>
                <a:spcPts val="607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Division Operator /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4838" y="1962559"/>
            <a:ext cx="3590925" cy="366712"/>
          </a:xfrm>
          <a:prstGeom prst="roundRect">
            <a:avLst>
              <a:gd name="adj" fmla="val 7772"/>
            </a:avLst>
          </a:prstGeom>
          <a:solidFill>
            <a:srgbClr val="0F2942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85"/>
              </a:lnSpc>
              <a:spcAft>
                <a:spcPts val="607"/>
              </a:spcAft>
              <a:buNone/>
            </a:pPr>
            <a:r>
              <a:rPr lang="en-US" sz="7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[Total Revenue] / [Total Profit]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02903" y="2442418"/>
            <a:ext cx="47625" cy="47625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723528" y="2408002"/>
            <a:ext cx="2424113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Throws a divide-by-zero error when denominator is 0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02903" y="2637830"/>
            <a:ext cx="47625" cy="47625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722077" y="2603413"/>
            <a:ext cx="1700213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break visuals and reports silently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02903" y="2833241"/>
            <a:ext cx="47625" cy="47625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722970" y="2798825"/>
            <a:ext cx="1776413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control over the error/fallback value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710113" y="1305111"/>
            <a:ext cx="4067175" cy="2452688"/>
          </a:xfrm>
          <a:prstGeom prst="roundRect">
            <a:avLst>
              <a:gd name="adj" fmla="val 1112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  <a:effectLst>
            <a:outerShdw blurRad="57150" dist="9525" dir="5400000" algn="bl" rotWithShape="0">
              <a:srgbClr val="0D9488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4946824" y="1467185"/>
            <a:ext cx="919162" cy="176212"/>
          </a:xfrm>
          <a:prstGeom prst="roundRect">
            <a:avLst>
              <a:gd name="adj" fmla="val 64865"/>
            </a:avLst>
          </a:prstGeom>
          <a:solidFill>
            <a:srgbClr val="0D9488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72"/>
              </a:lnSpc>
              <a:spcAft>
                <a:spcPts val="607"/>
              </a:spcAft>
              <a:buNone/>
            </a:pPr>
            <a:r>
              <a:rPr lang="en-US" sz="6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948238" y="1718742"/>
            <a:ext cx="35909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spcAft>
                <a:spcPts val="607"/>
              </a:spcAft>
              <a:buNone/>
            </a:pPr>
            <a:r>
              <a:rPr lang="en-US" sz="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DIVIDE() Function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48238" y="1960327"/>
            <a:ext cx="3590925" cy="1023937"/>
          </a:xfrm>
          <a:prstGeom prst="roundRect">
            <a:avLst>
              <a:gd name="adj" fmla="val 3987"/>
            </a:avLst>
          </a:prstGeom>
          <a:solidFill>
            <a:srgbClr val="0F2942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85"/>
              </a:lnSpc>
              <a:buNone/>
            </a:pPr>
            <a:r>
              <a:rPr lang="en-US" sz="7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</a:t>
            </a: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700" dirty="0"/>
          </a:p>
          <a:p>
            <a:pPr marL="0" indent="0" algn="l">
              <a:lnSpc>
                <a:spcPts val="1285"/>
              </a:lnSpc>
              <a:spcAft>
                <a:spcPts val="607"/>
              </a:spcAft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[Total Revenue],</a:t>
            </a:r>
            <a:endParaRPr lang="en-US" sz="700" dirty="0"/>
          </a:p>
          <a:p>
            <a:pPr marL="0" indent="0" algn="l">
              <a:lnSpc>
                <a:spcPts val="1285"/>
              </a:lnSpc>
              <a:spcAft>
                <a:spcPts val="607"/>
              </a:spcAft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[Total Profit],</a:t>
            </a:r>
            <a:endParaRPr lang="en-US" sz="700" dirty="0"/>
          </a:p>
          <a:p>
            <a:pPr marL="0" indent="0" algn="l">
              <a:lnSpc>
                <a:spcPts val="1285"/>
              </a:lnSpc>
              <a:spcAft>
                <a:spcPts val="607"/>
              </a:spcAft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700" dirty="0"/>
          </a:p>
          <a:p>
            <a:pPr marL="0" indent="0" algn="l">
              <a:lnSpc>
                <a:spcPts val="1285"/>
              </a:lnSpc>
              <a:spcAft>
                <a:spcPts val="607"/>
              </a:spcAft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946303" y="3095179"/>
            <a:ext cx="47625" cy="47625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5065961" y="3060762"/>
            <a:ext cx="2824163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Returns the third argument (0) when denominator is 0 or blank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946303" y="3290590"/>
            <a:ext cx="47625" cy="47625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5066147" y="3256173"/>
            <a:ext cx="228600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errors in visuals — graceful fallback every time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946303" y="3486001"/>
            <a:ext cx="47625" cy="47625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9" name="Text 27"/>
          <p:cNvSpPr/>
          <p:nvPr/>
        </p:nvSpPr>
        <p:spPr>
          <a:xfrm>
            <a:off x="5066928" y="3451585"/>
            <a:ext cx="25812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Microsoft's recommended pattern for all divisions in DAX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66713" y="3912468"/>
            <a:ext cx="8410575" cy="381000"/>
          </a:xfrm>
          <a:prstGeom prst="roundRect">
            <a:avLst>
              <a:gd name="adj" fmla="val 11520"/>
            </a:avLst>
          </a:prstGeom>
          <a:solidFill>
            <a:srgbClr val="0D9488">
              <a:alpha val="7000"/>
            </a:srgbClr>
          </a:solidFill>
          <a:ln w="4763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Text 29"/>
          <p:cNvSpPr/>
          <p:nvPr/>
        </p:nvSpPr>
        <p:spPr>
          <a:xfrm>
            <a:off x="600075" y="4019624"/>
            <a:ext cx="79438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third argument of DIVIDE() is the alternate result — set it to </a:t>
            </a:r>
            <a:r>
              <a:rPr lang="en-US" sz="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contribution measures, or </a:t>
            </a:r>
            <a:r>
              <a:rPr lang="en-US" sz="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BLANK()</a:t>
            </a:r>
            <a:r>
              <a:rPr lang="en-US" sz="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hide rows with no data.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6713" y="4738613"/>
            <a:ext cx="8410575" cy="200025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33" name="Text 31"/>
          <p:cNvSpPr/>
          <p:nvPr/>
        </p:nvSpPr>
        <p:spPr>
          <a:xfrm>
            <a:off x="366006" y="4822403"/>
            <a:ext cx="9096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 Reference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807064" y="4822403"/>
            <a:ext cx="19716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3 · Contribution Measures•Slide 13 of 14</a:t>
            </a:r>
            <a:endParaRPr lang="en-US" sz="6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053"/>
            <a:ext cx="8410575" cy="271463"/>
          </a:xfrm>
          <a:prstGeom prst="rect">
            <a:avLst/>
          </a:prstGeom>
        </p:spPr>
      </p:pic>
      <p:pic>
        <p:nvPicPr>
          <p:cNvPr id="3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4738613"/>
            <a:ext cx="841057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6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C3F6E0-CD92-D481-1525-DF62C0C39EC9}"/>
              </a:ext>
            </a:extLst>
          </p:cNvPr>
          <p:cNvSpPr txBox="1"/>
          <p:nvPr/>
        </p:nvSpPr>
        <p:spPr>
          <a:xfrm>
            <a:off x="808891" y="436098"/>
            <a:ext cx="792714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Dynamic Avatar Generation Using DAX</a:t>
            </a:r>
          </a:p>
          <a:p>
            <a:r>
              <a:rPr lang="en-US" b="1" dirty="0">
                <a:solidFill>
                  <a:srgbClr val="0070C0"/>
                </a:solidFill>
              </a:rPr>
              <a:t>Topic</a:t>
            </a:r>
          </a:p>
          <a:p>
            <a:r>
              <a:rPr lang="en-US" dirty="0">
                <a:solidFill>
                  <a:srgbClr val="0070C0"/>
                </a:solidFill>
              </a:rPr>
              <a:t>Creating customer profile images automatically from customer names.</a:t>
            </a:r>
          </a:p>
          <a:p>
            <a:endParaRPr lang="en-AE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Client Image =</a:t>
            </a:r>
          </a:p>
          <a:p>
            <a:r>
              <a:rPr lang="en-US" b="1" dirty="0">
                <a:solidFill>
                  <a:srgbClr val="0070C0"/>
                </a:solidFill>
              </a:rPr>
              <a:t>"https://api.dicebear.com/7.x/initials/</a:t>
            </a:r>
            <a:r>
              <a:rPr lang="en-US" b="1" dirty="0" err="1">
                <a:solidFill>
                  <a:srgbClr val="0070C0"/>
                </a:solidFill>
              </a:rPr>
              <a:t>png?seed</a:t>
            </a:r>
            <a:r>
              <a:rPr lang="en-US" b="1" dirty="0">
                <a:solidFill>
                  <a:srgbClr val="0070C0"/>
                </a:solidFill>
              </a:rPr>
              <a:t>="</a:t>
            </a:r>
          </a:p>
          <a:p>
            <a:r>
              <a:rPr lang="en-US" b="1" dirty="0">
                <a:solidFill>
                  <a:srgbClr val="0070C0"/>
                </a:solidFill>
              </a:rPr>
              <a:t>&amp; SUBSTITUTE([Customer Name]," ","%20")</a:t>
            </a:r>
          </a:p>
          <a:p>
            <a:r>
              <a:rPr lang="en-US" b="1" dirty="0">
                <a:solidFill>
                  <a:srgbClr val="0070C0"/>
                </a:solidFill>
              </a:rPr>
              <a:t>Key Concepts</a:t>
            </a:r>
          </a:p>
          <a:p>
            <a:r>
              <a:rPr lang="en-US" dirty="0">
                <a:solidFill>
                  <a:srgbClr val="0070C0"/>
                </a:solidFill>
              </a:rPr>
              <a:t>&amp; → Concatenates text </a:t>
            </a:r>
          </a:p>
          <a:p>
            <a:r>
              <a:rPr lang="en-US" dirty="0">
                <a:solidFill>
                  <a:srgbClr val="0070C0"/>
                </a:solidFill>
              </a:rPr>
              <a:t>SUBSTITUTE() → Replaces spaces with %20 </a:t>
            </a:r>
          </a:p>
          <a:p>
            <a:r>
              <a:rPr lang="en-US" dirty="0">
                <a:solidFill>
                  <a:srgbClr val="0070C0"/>
                </a:solidFill>
              </a:rPr>
              <a:t>Uses the customer name as the avatar seed </a:t>
            </a:r>
          </a:p>
          <a:p>
            <a:r>
              <a:rPr lang="en-US" b="1" dirty="0">
                <a:solidFill>
                  <a:srgbClr val="0070C0"/>
                </a:solidFill>
              </a:rPr>
              <a:t>Example</a:t>
            </a:r>
          </a:p>
          <a:p>
            <a:r>
              <a:rPr lang="en-US" dirty="0">
                <a:solidFill>
                  <a:srgbClr val="0070C0"/>
                </a:solidFill>
              </a:rPr>
              <a:t>Customer Name:</a:t>
            </a:r>
          </a:p>
          <a:p>
            <a:r>
              <a:rPr lang="en-US" b="1" dirty="0">
                <a:solidFill>
                  <a:srgbClr val="0070C0"/>
                </a:solidFill>
              </a:rPr>
              <a:t>Robert Haberlin</a:t>
            </a:r>
          </a:p>
          <a:p>
            <a:r>
              <a:rPr lang="en-US" b="1" dirty="0">
                <a:solidFill>
                  <a:srgbClr val="0070C0"/>
                </a:solidFill>
              </a:rPr>
              <a:t>https://api.dicebear.com/7.x/initials/png?seed=Robert%20Haberlin</a:t>
            </a:r>
          </a:p>
          <a:p>
            <a:endParaRPr lang="en-US" b="1" dirty="0"/>
          </a:p>
          <a:p>
            <a:endParaRPr lang="en-AE" b="1" dirty="0"/>
          </a:p>
        </p:txBody>
      </p:sp>
    </p:spTree>
    <p:extLst>
      <p:ext uri="{BB962C8B-B14F-4D97-AF65-F5344CB8AC3E}">
        <p14:creationId xmlns:p14="http://schemas.microsoft.com/office/powerpoint/2010/main" val="2534186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6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A069FE-36BF-3E24-B008-D6E27FC0B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6C0C6D-A12A-3A19-F90D-002B21747E42}"/>
              </a:ext>
            </a:extLst>
          </p:cNvPr>
          <p:cNvSpPr txBox="1"/>
          <p:nvPr/>
        </p:nvSpPr>
        <p:spPr>
          <a:xfrm>
            <a:off x="808891" y="436098"/>
            <a:ext cx="79271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Understanding URL-Based Image Generation</a:t>
            </a:r>
          </a:p>
          <a:p>
            <a:r>
              <a:rPr lang="en-US" b="1" dirty="0">
                <a:solidFill>
                  <a:srgbClr val="0070C0"/>
                </a:solidFill>
              </a:rPr>
              <a:t>Topic</a:t>
            </a:r>
          </a:p>
          <a:p>
            <a:r>
              <a:rPr lang="en-US" dirty="0">
                <a:solidFill>
                  <a:srgbClr val="0070C0"/>
                </a:solidFill>
              </a:rPr>
              <a:t>How APIs and DAX work together to create dynamic images.</a:t>
            </a:r>
          </a:p>
          <a:p>
            <a:r>
              <a:rPr lang="en-US" dirty="0">
                <a:solidFill>
                  <a:srgbClr val="0070C0"/>
                </a:solidFill>
              </a:rPr>
              <a:t>Formula Breakdown-</a:t>
            </a:r>
          </a:p>
          <a:p>
            <a:r>
              <a:rPr lang="en-US" b="1" dirty="0">
                <a:solidFill>
                  <a:srgbClr val="0070C0"/>
                </a:solidFill>
              </a:rPr>
              <a:t>SUBSTITUTE([Customer Name]," ","%20")</a:t>
            </a:r>
          </a:p>
          <a:p>
            <a:endParaRPr lang="en-US" b="1" dirty="0"/>
          </a:p>
          <a:p>
            <a:endParaRPr lang="en-AE" b="1" dirty="0"/>
          </a:p>
        </p:txBody>
      </p:sp>
    </p:spTree>
    <p:extLst>
      <p:ext uri="{BB962C8B-B14F-4D97-AF65-F5344CB8AC3E}">
        <p14:creationId xmlns:p14="http://schemas.microsoft.com/office/powerpoint/2010/main" val="4165980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6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FCC539-AD0D-0DB4-6D80-C76EC43EE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92FD45-3F49-4D2B-F379-AC0FC87088ED}"/>
              </a:ext>
            </a:extLst>
          </p:cNvPr>
          <p:cNvSpPr txBox="1"/>
          <p:nvPr/>
        </p:nvSpPr>
        <p:spPr>
          <a:xfrm>
            <a:off x="679351" y="519918"/>
            <a:ext cx="7927145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</a:rPr>
              <a:t>Random Male/Female Profile Images Using DAX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Topic</a:t>
            </a:r>
          </a:p>
          <a:p>
            <a:r>
              <a:rPr lang="en-US" sz="1400" dirty="0">
                <a:solidFill>
                  <a:srgbClr val="0070C0"/>
                </a:solidFill>
              </a:rPr>
              <a:t>Generating random customer profile photos using row numbers.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DAX Formula-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Client Image =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IF(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    MOD([Row ID],2)=0,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    "https://randomuser.me/</a:t>
            </a:r>
            <a:r>
              <a:rPr lang="en-US" sz="1400" b="1" dirty="0" err="1">
                <a:solidFill>
                  <a:srgbClr val="0070C0"/>
                </a:solidFill>
              </a:rPr>
              <a:t>api</a:t>
            </a:r>
            <a:r>
              <a:rPr lang="en-US" sz="1400" b="1" dirty="0">
                <a:solidFill>
                  <a:srgbClr val="0070C0"/>
                </a:solidFill>
              </a:rPr>
              <a:t>/portraits/women/" &amp; MOD([Row ID],99) &amp; ".jpg",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    "https://randomuser.me/</a:t>
            </a:r>
            <a:r>
              <a:rPr lang="en-US" sz="1400" b="1" dirty="0" err="1">
                <a:solidFill>
                  <a:srgbClr val="0070C0"/>
                </a:solidFill>
              </a:rPr>
              <a:t>api</a:t>
            </a:r>
            <a:r>
              <a:rPr lang="en-US" sz="1400" b="1" dirty="0">
                <a:solidFill>
                  <a:srgbClr val="0070C0"/>
                </a:solidFill>
              </a:rPr>
              <a:t>/portraits/men/" &amp; MOD([Row ID],99) &amp; ".jpg"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)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Key Functions</a:t>
            </a:r>
          </a:p>
          <a:p>
            <a:r>
              <a:rPr lang="en-US" dirty="0">
                <a:solidFill>
                  <a:srgbClr val="0070C0"/>
                </a:solidFill>
              </a:rPr>
              <a:t>IF()</a:t>
            </a:r>
            <a:r>
              <a:rPr lang="en-US" sz="1400" dirty="0">
                <a:solidFill>
                  <a:srgbClr val="0070C0"/>
                </a:solidFill>
              </a:rPr>
              <a:t> → Checks condition </a:t>
            </a:r>
          </a:p>
          <a:p>
            <a:r>
              <a:rPr lang="en-US" dirty="0">
                <a:solidFill>
                  <a:srgbClr val="0070C0"/>
                </a:solidFill>
              </a:rPr>
              <a:t>MOD()</a:t>
            </a:r>
            <a:r>
              <a:rPr lang="en-US" sz="1400" dirty="0">
                <a:solidFill>
                  <a:srgbClr val="0070C0"/>
                </a:solidFill>
              </a:rPr>
              <a:t> → Returns remainder </a:t>
            </a:r>
          </a:p>
          <a:p>
            <a:r>
              <a:rPr lang="en-US" sz="1400" dirty="0">
                <a:solidFill>
                  <a:srgbClr val="0070C0"/>
                </a:solidFill>
              </a:rPr>
              <a:t>Even Row ID → Female image </a:t>
            </a:r>
          </a:p>
          <a:p>
            <a:r>
              <a:rPr lang="en-US" sz="1400" dirty="0">
                <a:solidFill>
                  <a:srgbClr val="0070C0"/>
                </a:solidFill>
              </a:rPr>
              <a:t>Odd Row ID → Male image</a:t>
            </a:r>
          </a:p>
          <a:p>
            <a:endParaRPr lang="en-US" sz="1400" b="1" dirty="0"/>
          </a:p>
          <a:p>
            <a:endParaRPr lang="en-US" b="1" dirty="0"/>
          </a:p>
          <a:p>
            <a:endParaRPr lang="en-AE" b="1" dirty="0"/>
          </a:p>
        </p:txBody>
      </p:sp>
    </p:spTree>
    <p:extLst>
      <p:ext uri="{BB962C8B-B14F-4D97-AF65-F5344CB8AC3E}">
        <p14:creationId xmlns:p14="http://schemas.microsoft.com/office/powerpoint/2010/main" val="22735730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6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9C87AB-1186-63D2-2308-B80008148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C57A6F-B76F-E410-FFC7-1C6037BEFA0A}"/>
              </a:ext>
            </a:extLst>
          </p:cNvPr>
          <p:cNvSpPr txBox="1"/>
          <p:nvPr/>
        </p:nvSpPr>
        <p:spPr>
          <a:xfrm>
            <a:off x="679351" y="519918"/>
            <a:ext cx="792714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70C0"/>
                </a:solidFill>
              </a:rPr>
              <a:t>Time-Series Analytics &amp; Forecasting (Sales/Revenue)</a:t>
            </a:r>
          </a:p>
          <a:p>
            <a:endParaRPr lang="en-US" sz="1400" b="1" dirty="0"/>
          </a:p>
          <a:p>
            <a:r>
              <a:rPr lang="en-US" b="1" dirty="0">
                <a:solidFill>
                  <a:srgbClr val="0070C0"/>
                </a:solidFill>
              </a:rPr>
              <a:t>Time-series analytics and forecasting are essential for predicting future sales and revenue by analyzing historical data points collected at regular intervals (e.g., daily, monthly, quarterly).</a:t>
            </a:r>
          </a:p>
          <a:p>
            <a:endParaRPr lang="en-AE" b="1" dirty="0"/>
          </a:p>
        </p:txBody>
      </p:sp>
    </p:spTree>
    <p:extLst>
      <p:ext uri="{BB962C8B-B14F-4D97-AF65-F5344CB8AC3E}">
        <p14:creationId xmlns:p14="http://schemas.microsoft.com/office/powerpoint/2010/main" val="3739781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366713" y="206053"/>
            <a:ext cx="8410575" cy="271463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364666" y="204601"/>
            <a:ext cx="166688" cy="166688"/>
          </a:xfrm>
          <a:prstGeom prst="roundRect">
            <a:avLst>
              <a:gd name="adj" fmla="val 3009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604354" y="204639"/>
            <a:ext cx="72866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093074" y="218889"/>
            <a:ext cx="127158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PRACTICES SUMMARY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48874" y="218889"/>
            <a:ext cx="2286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6713" y="631403"/>
            <a:ext cx="84105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88"/>
              </a:lnSpc>
              <a:spcAft>
                <a:spcPts val="405"/>
              </a:spcAft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6713" y="834070"/>
            <a:ext cx="8410575" cy="2952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8"/>
              </a:lnSpc>
              <a:buNone/>
            </a:pPr>
            <a:r>
              <a:rPr lang="en-US" sz="20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Practices Summary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6229" y="1283010"/>
            <a:ext cx="2681288" cy="1509712"/>
          </a:xfrm>
          <a:prstGeom prst="roundRect">
            <a:avLst>
              <a:gd name="adj" fmla="val 293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553269" y="1417513"/>
            <a:ext cx="952500" cy="176212"/>
          </a:xfrm>
          <a:prstGeom prst="roundRect">
            <a:avLst>
              <a:gd name="adj" fmla="val 64865"/>
            </a:avLst>
          </a:prstGeom>
          <a:solidFill>
            <a:srgbClr val="0D9488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8"/>
              </a:lnSpc>
              <a:spcAft>
                <a:spcPts val="607"/>
              </a:spcAft>
              <a:buNone/>
            </a:pPr>
            <a:r>
              <a:rPr lang="en-US" sz="6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 TABLE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53417" y="1676437"/>
            <a:ext cx="619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41"/>
              </a:spcBef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89670" y="1671303"/>
            <a:ext cx="19240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continuous date range from source data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53417" y="1870137"/>
            <a:ext cx="619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41"/>
              </a:spcBef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87958" y="1865002"/>
            <a:ext cx="163353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 MonthName by MonthNo column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53417" y="2063837"/>
            <a:ext cx="619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41"/>
              </a:spcBef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88553" y="2058702"/>
            <a:ext cx="1366837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Date type — not Date/Time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53417" y="2257537"/>
            <a:ext cx="619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41"/>
              </a:spcBef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88851" y="2252402"/>
            <a:ext cx="17383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 as Date Table for Time Intelligence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53417" y="2451236"/>
            <a:ext cx="619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41"/>
              </a:spcBef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87884" y="2446102"/>
            <a:ext cx="14668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 Auto Date/Time in options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231319" y="1283010"/>
            <a:ext cx="2681288" cy="1509712"/>
          </a:xfrm>
          <a:prstGeom prst="roundRect">
            <a:avLst>
              <a:gd name="adj" fmla="val 293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3418322" y="1417513"/>
            <a:ext cx="604837" cy="176212"/>
          </a:xfrm>
          <a:prstGeom prst="roundRect">
            <a:avLst>
              <a:gd name="adj" fmla="val 64865"/>
            </a:avLst>
          </a:prstGeom>
          <a:solidFill>
            <a:srgbClr val="0D9488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8"/>
              </a:lnSpc>
              <a:spcAft>
                <a:spcPts val="607"/>
              </a:spcAft>
              <a:buNone/>
            </a:pPr>
            <a:r>
              <a:rPr lang="en-US" sz="6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RANKING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418508" y="1676437"/>
            <a:ext cx="619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41"/>
              </a:spcBef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553420" y="1671303"/>
            <a:ext cx="18383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use ALLSELECTED() inside RANKX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418508" y="1870137"/>
            <a:ext cx="619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41"/>
              </a:spcBef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553718" y="1864519"/>
            <a:ext cx="2171700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Visual Top N filter when no custom logic is needed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418508" y="2195847"/>
            <a:ext cx="619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41"/>
              </a:spcBef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553718" y="2190713"/>
            <a:ext cx="210978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DAX RANKX for conditional formatting and labels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18396" y="2389547"/>
            <a:ext cx="42863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41"/>
              </a:spcBef>
              <a:buNone/>
            </a:pPr>
            <a:r>
              <a:rPr lang="en-US" sz="7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533701" y="2384413"/>
            <a:ext cx="16478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 ALL() — it ignores slicer context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096409" y="1283010"/>
            <a:ext cx="2681288" cy="1509712"/>
          </a:xfrm>
          <a:prstGeom prst="roundRect">
            <a:avLst>
              <a:gd name="adj" fmla="val 293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57150" dist="9525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3" name="Text 31"/>
          <p:cNvSpPr/>
          <p:nvPr/>
        </p:nvSpPr>
        <p:spPr>
          <a:xfrm>
            <a:off x="6283747" y="1417513"/>
            <a:ext cx="962025" cy="176212"/>
          </a:xfrm>
          <a:prstGeom prst="roundRect">
            <a:avLst>
              <a:gd name="adj" fmla="val 64865"/>
            </a:avLst>
          </a:prstGeom>
          <a:solidFill>
            <a:srgbClr val="0D9488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8"/>
              </a:lnSpc>
              <a:spcAft>
                <a:spcPts val="607"/>
              </a:spcAft>
              <a:buNone/>
            </a:pPr>
            <a:r>
              <a:rPr lang="en-US" sz="6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 %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283598" y="1676437"/>
            <a:ext cx="619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41"/>
              </a:spcBef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419552" y="1671303"/>
            <a:ext cx="1881187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use DIVIDE() — never the / operator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283598" y="1870137"/>
            <a:ext cx="619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41"/>
              </a:spcBef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418808" y="1864519"/>
            <a:ext cx="2171700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ALLSELECTED() in the denominator CALCULATE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283598" y="2195847"/>
            <a:ext cx="619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41"/>
              </a:spcBef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419441" y="2190713"/>
            <a:ext cx="19812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Revenue and Profit measures separately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283598" y="2389547"/>
            <a:ext cx="619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41"/>
              </a:spcBef>
              <a:buNone/>
            </a:pPr>
            <a:r>
              <a:rPr lang="en-US" sz="7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418808" y="2383929"/>
            <a:ext cx="2171700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 as % — they always sum to 100% per filter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66713" y="2920380"/>
            <a:ext cx="8410575" cy="652463"/>
          </a:xfrm>
          <a:prstGeom prst="roundRect">
            <a:avLst>
              <a:gd name="adj" fmla="val 15713"/>
            </a:avLst>
          </a:prstGeom>
          <a:solidFill>
            <a:srgbClr val="0D9488">
              <a:alpha val="7000"/>
            </a:srgbClr>
          </a:solidFill>
          <a:ln w="4763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3" name="Text 41"/>
          <p:cNvSpPr/>
          <p:nvPr/>
        </p:nvSpPr>
        <p:spPr>
          <a:xfrm>
            <a:off x="599666" y="3096592"/>
            <a:ext cx="6543675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recurring pattern: ALLSELECTED keeps every measure slicer-aware. Calendar tables enable Time Intelligence. DIVIDE prevents errors. These three habits produce reliable, professional Power BI reports.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417184" y="3027536"/>
            <a:ext cx="1128713" cy="438150"/>
          </a:xfrm>
          <a:prstGeom prst="roundRect">
            <a:avLst>
              <a:gd name="adj" fmla="val 5444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9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</a:t>
            </a:r>
            <a:endParaRPr lang="en-US" sz="700" dirty="0"/>
          </a:p>
          <a:p>
            <a:pPr marL="0" indent="0" algn="ctr">
              <a:lnSpc>
                <a:spcPts val="1109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66713" y="4738613"/>
            <a:ext cx="8410575" cy="200025"/>
          </a:xfrm>
          <a:prstGeom prst="rect">
            <a:avLst/>
          </a:prstGeom>
          <a:ln/>
        </p:spPr>
        <p:txBody>
          <a:bodyPr/>
          <a:lstStyle/>
          <a:p>
            <a:endParaRPr lang="en-AE"/>
          </a:p>
        </p:txBody>
      </p:sp>
      <p:sp>
        <p:nvSpPr>
          <p:cNvPr id="46" name="Text 44"/>
          <p:cNvSpPr/>
          <p:nvPr/>
        </p:nvSpPr>
        <p:spPr>
          <a:xfrm>
            <a:off x="366006" y="4822403"/>
            <a:ext cx="9096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DAX Reference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6840141" y="4822403"/>
            <a:ext cx="1938337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 · Ranking · Contribution•Slide 14 of 14</a:t>
            </a:r>
            <a:endParaRPr lang="en-US" sz="600" dirty="0"/>
          </a:p>
        </p:txBody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6053"/>
            <a:ext cx="8410575" cy="271463"/>
          </a:xfrm>
          <a:prstGeom prst="rect">
            <a:avLst/>
          </a:prstGeom>
        </p:spPr>
      </p:pic>
      <p:pic>
        <p:nvPicPr>
          <p:cNvPr id="4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4738613"/>
            <a:ext cx="8410575" cy="2000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</TotalTime>
  <Words>2546</Words>
  <Application>Microsoft Office PowerPoint</Application>
  <PresentationFormat>On-screen Show (16:9)</PresentationFormat>
  <Paragraphs>457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Courier New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Sandipan Gupta</cp:lastModifiedBy>
  <cp:revision>8</cp:revision>
  <dcterms:created xsi:type="dcterms:W3CDTF">2026-05-12T11:11:30Z</dcterms:created>
  <dcterms:modified xsi:type="dcterms:W3CDTF">2026-05-14T02:40:29Z</dcterms:modified>
</cp:coreProperties>
</file>