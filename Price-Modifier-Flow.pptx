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0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1.svg"/><Relationship Id="rId5" Type="http://schemas.openxmlformats.org/officeDocument/2006/relationships/image" Target="../media/image16.svg"/><Relationship Id="rId10" Type="http://schemas.openxmlformats.org/officeDocument/2006/relationships/image" Target="../media/image20.svg"/><Relationship Id="rId4" Type="http://schemas.openxmlformats.org/officeDocument/2006/relationships/image" Target="../media/image2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46"/>
            <a:ext cx="9144000" cy="4619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00" b="1" dirty="0">
                <a:solidFill>
                  <a:srgbClr val="007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                                                                                MICROSOFT POWER PLATFORM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03858" y="1188765"/>
            <a:ext cx="40671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013"/>
              </a:spcAft>
              <a:buNone/>
            </a:pPr>
            <a:r>
              <a:rPr lang="en-US" sz="9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 FLOW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03858" y="1503908"/>
            <a:ext cx="4067175" cy="10334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78"/>
              </a:lnSpc>
              <a:spcAft>
                <a:spcPts val="1215"/>
              </a:spcAft>
              <a:buNone/>
            </a:pPr>
            <a:r>
              <a:rPr lang="en-US" sz="3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Dataverse 10% Discount Flow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03858" y="2691668"/>
            <a:ext cx="4067175" cy="852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2"/>
              </a:lnSpc>
              <a:spcAft>
                <a:spcPts val="1620"/>
              </a:spcAft>
              <a:buNone/>
            </a:pPr>
            <a:r>
              <a:rPr lang="en-US" sz="14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bulk price updates across every Dataverse record — no manual work required.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1923" y="3844417"/>
            <a:ext cx="276225" cy="142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5"/>
          <p:cNvSpPr/>
          <p:nvPr/>
        </p:nvSpPr>
        <p:spPr>
          <a:xfrm>
            <a:off x="887016" y="3749204"/>
            <a:ext cx="18192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Step-by-step walkthrough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295" y="462409"/>
            <a:ext cx="4295775" cy="468153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7295" y="462409"/>
            <a:ext cx="4295775" cy="468153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0078D4">
              <a:alpha val="4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7"/>
          <p:cNvSpPr/>
          <p:nvPr/>
        </p:nvSpPr>
        <p:spPr>
          <a:xfrm>
            <a:off x="456084" y="4819204"/>
            <a:ext cx="18764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Dataverse + Power Automate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6"/>
            <a:ext cx="9144000" cy="46196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681091"/>
            <a:ext cx="9144000" cy="461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295" y="519112"/>
            <a:ext cx="9334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3858" y="761554"/>
            <a:ext cx="818197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6"/>
              </a:lnSpc>
              <a:spcBef>
                <a:spcPts val="486"/>
              </a:spcBef>
              <a:buNone/>
            </a:pPr>
            <a:r>
              <a:rPr lang="en-US" sz="2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Dataverse?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407" y="1302358"/>
            <a:ext cx="366712" cy="1905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502407" y="1747540"/>
            <a:ext cx="4024312" cy="1538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9"/>
              </a:lnSpc>
              <a:spcAft>
                <a:spcPts val="162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Dataverse is a secure, cloud-based data platform built into the Power Platform — designed to store, manage, and share business data used by your applications and flows.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407" y="3490057"/>
            <a:ext cx="4024312" cy="790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 of it as a structured database that Power Apps and Power Automate connect to natively, without extra configuration.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1534" y="1747875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5084415" y="1850454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Relational Data 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84415" y="2102495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Tables, rows, and columns — just like a database, with relationships built in.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91534" y="2716523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74277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5084415" y="2819102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84415" y="3071143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control, encryption at rest and in transit.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91534" y="3685170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BCF2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5084415" y="3787750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Power Platform 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84415" y="4039791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 out-of-the-box with Power Automate, Power Apps, and Power BI.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125008"/>
            <a:ext cx="9144000" cy="1905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1534" y="1747875"/>
            <a:ext cx="3795712" cy="85725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534" y="2716523"/>
            <a:ext cx="3795712" cy="85725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1534" y="3685170"/>
            <a:ext cx="3795712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3448" y="519112"/>
            <a:ext cx="15144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007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 ENGINE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03858" y="761554"/>
            <a:ext cx="818197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6"/>
              </a:lnSpc>
              <a:spcBef>
                <a:spcPts val="486"/>
              </a:spcBef>
              <a:buNone/>
            </a:pPr>
            <a:r>
              <a:rPr lang="en-US" sz="2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Power Automate?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407" y="1302358"/>
            <a:ext cx="366712" cy="1905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3"/>
          <p:cNvSpPr/>
          <p:nvPr/>
        </p:nvSpPr>
        <p:spPr>
          <a:xfrm>
            <a:off x="502444" y="1747875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695325" y="1850454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Triggers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95325" y="2102495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Flows start automatically — on a schedule, on a button press, or when data changes.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444" y="2716523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74277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7"/>
          <p:cNvSpPr/>
          <p:nvPr/>
        </p:nvSpPr>
        <p:spPr>
          <a:xfrm>
            <a:off x="695325" y="2819102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5325" y="3071143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step in a flow performs an operation — read, write, transform, send, or loop.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444" y="3685170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BCF2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0"/>
          <p:cNvSpPr/>
          <p:nvPr/>
        </p:nvSpPr>
        <p:spPr>
          <a:xfrm>
            <a:off x="695325" y="3787750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95325" y="4039791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500+ pre-built connectors — including Dataverse — link your systems without code.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62971" y="1747540"/>
            <a:ext cx="4024312" cy="1538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9"/>
              </a:lnSpc>
              <a:spcAft>
                <a:spcPts val="162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 is a cloud-based workflow automation service that lets you build automated flows connecting your apps, data, and services — with no code required.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2971" y="3490764"/>
            <a:ext cx="4024312" cy="10525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flow runs a sequence of actions in order. In this deck, a scheduled flow reads every row in a Dataverse table and updates pricing automatically.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125008"/>
            <a:ext cx="9144000" cy="1905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444" y="1747875"/>
            <a:ext cx="3795712" cy="85725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444" y="2716523"/>
            <a:ext cx="3795712" cy="85725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444" y="3685170"/>
            <a:ext cx="3795712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7" y="416198"/>
            <a:ext cx="126206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007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AUTOMATION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3858" y="646881"/>
            <a:ext cx="8181975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3"/>
              </a:lnSpc>
              <a:spcBef>
                <a:spcPts val="405"/>
              </a:spcBef>
              <a:buNone/>
            </a:pPr>
            <a:r>
              <a:rPr lang="en-US" sz="27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Discount 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407" y="1156878"/>
            <a:ext cx="366712" cy="1905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03858" y="154305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668462" y="1657201"/>
            <a:ext cx="290513" cy="290513"/>
          </a:xfrm>
          <a:prstGeom prst="ellipse">
            <a:avLst/>
          </a:prstGeom>
          <a:solidFill>
            <a:srgbClr val="0078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88008" y="1656345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All Rows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88008" y="190187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every row from the Dataverse table using the List rows action.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32958" y="154305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4897562" y="1657201"/>
            <a:ext cx="290513" cy="290513"/>
          </a:xfrm>
          <a:prstGeom prst="ellipse">
            <a:avLst/>
          </a:prstGeom>
          <a:solidFill>
            <a:srgbClr val="1A5DA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17108" y="1656345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Loop Through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17108" y="190187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an Apply to each action over the value array from the previous step.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3858" y="267459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742774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668462" y="2788741"/>
            <a:ext cx="290513" cy="290513"/>
          </a:xfrm>
          <a:prstGeom prst="ellipse">
            <a:avLst/>
          </a:prstGeom>
          <a:solidFill>
            <a:srgbClr val="5A20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88008" y="2787886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 OriginalPrice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88008" y="303341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float() to cast the OriginalPrice text field into a decimal number.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32958" y="267459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742774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4897562" y="2788741"/>
            <a:ext cx="290513" cy="290513"/>
          </a:xfrm>
          <a:prstGeom prst="ellipse">
            <a:avLst/>
          </a:prstGeom>
          <a:solidFill>
            <a:srgbClr val="74277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17108" y="2787886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Calculate 10% Discount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17108" y="303341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Multiply the number by 0.9 to get the discounted final price.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3858" y="380613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BCF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668462" y="3920282"/>
            <a:ext cx="290513" cy="290513"/>
          </a:xfrm>
          <a:prstGeom prst="ellipse">
            <a:avLst/>
          </a:prstGeom>
          <a:solidFill>
            <a:srgbClr val="0097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88008" y="3919426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 FinalPrice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88008" y="416495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 the calculated result to the FinalPrice column on the current row.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32958" y="3806130"/>
            <a:ext cx="3952875" cy="102870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Text 25"/>
          <p:cNvSpPr/>
          <p:nvPr/>
        </p:nvSpPr>
        <p:spPr>
          <a:xfrm>
            <a:off x="4897562" y="3920282"/>
            <a:ext cx="290513" cy="290513"/>
          </a:xfrm>
          <a:prstGeom prst="ellipse">
            <a:avLst/>
          </a:prstGeom>
          <a:solidFill>
            <a:srgbClr val="004E8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17108" y="3919426"/>
            <a:ext cx="32051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Row in Dataverse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17108" y="4164955"/>
            <a:ext cx="32051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1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Update a row to save the new FinalPrice back to that exact Dataverse record.</a:t>
            </a:r>
            <a:endParaRPr lang="en-US" sz="10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125008"/>
            <a:ext cx="9144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1774" y="416198"/>
            <a:ext cx="13906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 BREAKDOWN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03858" y="646881"/>
            <a:ext cx="8181975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3"/>
              </a:lnSpc>
              <a:spcBef>
                <a:spcPts val="405"/>
              </a:spcBef>
              <a:buNone/>
            </a:pPr>
            <a:r>
              <a:rPr lang="en-US" sz="27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Calculation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02407" y="1156878"/>
            <a:ext cx="366712" cy="1905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3"/>
          <p:cNvSpPr/>
          <p:nvPr/>
        </p:nvSpPr>
        <p:spPr>
          <a:xfrm>
            <a:off x="503969" y="1542157"/>
            <a:ext cx="2166938" cy="1457325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0078D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684944" y="1686223"/>
            <a:ext cx="18049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007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 — READ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84944" y="1927957"/>
            <a:ext cx="1804988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324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OriginalPrice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4944" y="2245035"/>
            <a:ext cx="1804988" cy="595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Stored as text in Dataverse. Must be converted before any arithmetic.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8163" y="2263639"/>
            <a:ext cx="276225" cy="142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083421" y="2223195"/>
            <a:ext cx="109537" cy="95250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8"/>
          <p:cNvSpPr/>
          <p:nvPr/>
        </p:nvSpPr>
        <p:spPr>
          <a:xfrm>
            <a:off x="3330439" y="1542157"/>
            <a:ext cx="2528888" cy="1457325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74277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9"/>
          <p:cNvSpPr/>
          <p:nvPr/>
        </p:nvSpPr>
        <p:spPr>
          <a:xfrm>
            <a:off x="3513795" y="1686223"/>
            <a:ext cx="21621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5A20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 — CONVERT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513795" y="1928366"/>
            <a:ext cx="2162175" cy="309562"/>
          </a:xfrm>
          <a:prstGeom prst="roundRect">
            <a:avLst>
              <a:gd name="adj" fmla="val 8725"/>
            </a:avLst>
          </a:prstGeom>
          <a:solidFill>
            <a:srgbClr val="5A2070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44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float(OriginalPrice)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13795" y="2279191"/>
            <a:ext cx="2162175" cy="595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Casts the text string to a decimal number for use in formulas.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5839" y="2263639"/>
            <a:ext cx="276225" cy="1428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71096" y="2223195"/>
            <a:ext cx="109537" cy="95250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3"/>
          <p:cNvSpPr/>
          <p:nvPr/>
        </p:nvSpPr>
        <p:spPr>
          <a:xfrm>
            <a:off x="6518858" y="1542157"/>
            <a:ext cx="2166938" cy="1457325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0097C4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4"/>
          <p:cNvSpPr/>
          <p:nvPr/>
        </p:nvSpPr>
        <p:spPr>
          <a:xfrm>
            <a:off x="6699833" y="1686223"/>
            <a:ext cx="18049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0097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 — CALCULATE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699833" y="1928366"/>
            <a:ext cx="1804988" cy="309562"/>
          </a:xfrm>
          <a:prstGeom prst="roundRect">
            <a:avLst>
              <a:gd name="adj" fmla="val 8725"/>
            </a:avLst>
          </a:prstGeom>
          <a:solidFill>
            <a:srgbClr val="0097C4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44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price * 0.9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699833" y="2279191"/>
            <a:ext cx="1804988" cy="595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Multiplying by 0.9 applies a 10% reduction in one operation.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03858" y="3126804"/>
            <a:ext cx="8181975" cy="1152525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0078D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18"/>
          <p:cNvSpPr/>
          <p:nvPr/>
        </p:nvSpPr>
        <p:spPr>
          <a:xfrm>
            <a:off x="774576" y="3256211"/>
            <a:ext cx="536733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43"/>
              </a:spcAft>
              <a:buNone/>
            </a:pPr>
            <a:r>
              <a:rPr lang="en-US" sz="1000" b="1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expression in Power Automate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74576" y="3492698"/>
            <a:ext cx="5367337" cy="657225"/>
          </a:xfrm>
          <a:prstGeom prst="roundRect">
            <a:avLst>
              <a:gd name="adj" fmla="val 9679"/>
            </a:avLst>
          </a:prstGeom>
          <a:solidFill>
            <a:srgbClr val="0078D4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mul(float(items('Apply_to_each')?['OriginalPrice']), 0.9)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415757" y="3357749"/>
            <a:ext cx="2043113" cy="690562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1"/>
          <p:cNvSpPr/>
          <p:nvPr/>
        </p:nvSpPr>
        <p:spPr>
          <a:xfrm>
            <a:off x="6695777" y="3357004"/>
            <a:ext cx="176212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spcAft>
                <a:spcPts val="203"/>
              </a:spcAft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is saved to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695777" y="3581214"/>
            <a:ext cx="1762125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FinalPrice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695777" y="3857253"/>
            <a:ext cx="17621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the same Dataverse row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5125008"/>
            <a:ext cx="9144000" cy="19050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969" y="1542157"/>
            <a:ext cx="2166938" cy="1457325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3421" y="2223195"/>
            <a:ext cx="109537" cy="95250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30439" y="1542157"/>
            <a:ext cx="2528888" cy="1457325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1096" y="2223195"/>
            <a:ext cx="109537" cy="9525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8858" y="1542157"/>
            <a:ext cx="2166938" cy="1457325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3858" y="3126804"/>
            <a:ext cx="8181975" cy="1152525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5757" y="3357749"/>
            <a:ext cx="2043113" cy="6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470</Words>
  <Application>Microsoft Office PowerPoint</Application>
  <PresentationFormat>On-screen Show (16:9)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monospace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Sandipan Gupta</cp:lastModifiedBy>
  <cp:revision>4</cp:revision>
  <dcterms:created xsi:type="dcterms:W3CDTF">2026-05-11T09:01:20Z</dcterms:created>
  <dcterms:modified xsi:type="dcterms:W3CDTF">2026-05-13T14:12:51Z</dcterms:modified>
</cp:coreProperties>
</file>